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charts/chart1.xml" ContentType="application/vnd.openxmlformats-officedocument.drawingml.chart+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05bf996d15964bea" /><Relationship Type="http://schemas.openxmlformats.org/package/2006/relationships/metadata/core-properties" Target="/docProps/core.xml" Id="R9cb1bf08120b4fdd" /><Relationship Type="http://schemas.openxmlformats.org/officeDocument/2006/relationships/extended-properties" Target="/docProps/app.xml" Id="R62e8234ee2bf4109" /><Relationship Type="http://schemas.openxmlformats.org/officeDocument/2006/relationships/custom-properties" Target="/docProps/custom.xml" Id="Re7b47910edbf43a1"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sldIdLst>
    <p:sldId id="256" r:id="Recc09a54f89e40ca"/>
    <p:sldId id="257" r:id="R14e6603a884f43fe"/>
    <p:sldId id="258" r:id="Rb5f1bc89ca184cdd"/>
    <p:sldId id="259" r:id="R8400598022594985"/>
    <p:sldId id="260" r:id="R9e60ab398ffb451f"/>
    <p:sldId id="261" r:id="Rce46031a2ac84018"/>
    <p:sldId id="262" r:id="R37759863974b4d0b"/>
    <p:sldId id="263" r:id="Rb34c683d6f27480e"/>
    <p:sldId id="264" r:id="R560af70c543d43db"/>
    <p:sldId id="265" r:id="Ra46cedece02c48f1"/>
    <p:sldId id="266" r:id="R447c05b8ca904731"/>
    <p:sldId id="267" r:id="Ra579fdecf5ec4a05"/>
    <p:sldId id="268" r:id="R642c755699874d09"/>
    <p:sldId id="269" r:id="Rbfab11b843294dd1"/>
    <p:sldId id="270" r:id="R6865dfb607a9441a"/>
    <p:sldId id="271" r:id="R490a0f7d122b4d50"/>
    <p:sldId id="272" r:id="R22918bb164c948b7"/>
    <p:sldId id="273" r:id="R8be64ebd47af474a"/>
    <p:sldId id="274" r:id="R52f85bd10b3c4f8b"/>
    <p:sldId id="275" r:id="R93da20dfb5774859"/>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ecc09a54f89e40ca" /><Relationship Type="http://schemas.openxmlformats.org/officeDocument/2006/relationships/slide" Target="/ppt/slides/slide2.xml" Id="R14e6603a884f43fe" /><Relationship Type="http://schemas.openxmlformats.org/officeDocument/2006/relationships/slide" Target="/ppt/slides/slide3.xml" Id="Rb5f1bc89ca184cdd" /><Relationship Type="http://schemas.openxmlformats.org/officeDocument/2006/relationships/slide" Target="/ppt/slides/slide4.xml" Id="R8400598022594985" /><Relationship Type="http://schemas.openxmlformats.org/officeDocument/2006/relationships/slide" Target="/ppt/slides/slide5.xml" Id="R9e60ab398ffb451f" /><Relationship Type="http://schemas.openxmlformats.org/officeDocument/2006/relationships/slide" Target="/ppt/slides/slide6.xml" Id="Rce46031a2ac84018" /><Relationship Type="http://schemas.openxmlformats.org/officeDocument/2006/relationships/slide" Target="/ppt/slides/slide7.xml" Id="R37759863974b4d0b" /><Relationship Type="http://schemas.openxmlformats.org/officeDocument/2006/relationships/slide" Target="/ppt/slides/slide8.xml" Id="Rb34c683d6f27480e" /><Relationship Type="http://schemas.openxmlformats.org/officeDocument/2006/relationships/slide" Target="/ppt/slides/slide9.xml" Id="R560af70c543d43db" /><Relationship Type="http://schemas.openxmlformats.org/officeDocument/2006/relationships/slide" Target="/ppt/slides/slide10.xml" Id="Ra46cedece02c48f1" /><Relationship Type="http://schemas.openxmlformats.org/officeDocument/2006/relationships/slide" Target="/ppt/slides/slide11.xml" Id="R447c05b8ca904731" /><Relationship Type="http://schemas.openxmlformats.org/officeDocument/2006/relationships/slide" Target="/ppt/slides/slide12.xml" Id="Ra579fdecf5ec4a05" /><Relationship Type="http://schemas.openxmlformats.org/officeDocument/2006/relationships/slide" Target="/ppt/slides/slide13.xml" Id="R642c755699874d09" /><Relationship Type="http://schemas.openxmlformats.org/officeDocument/2006/relationships/slide" Target="/ppt/slides/slide14.xml" Id="Rbfab11b843294dd1" /><Relationship Type="http://schemas.openxmlformats.org/officeDocument/2006/relationships/slide" Target="/ppt/slides/slide15.xml" Id="R6865dfb607a9441a" /><Relationship Type="http://schemas.openxmlformats.org/officeDocument/2006/relationships/slide" Target="/ppt/slides/slide16.xml" Id="R490a0f7d122b4d50" /><Relationship Type="http://schemas.openxmlformats.org/officeDocument/2006/relationships/slide" Target="/ppt/slides/slide17.xml" Id="R22918bb164c948b7" /><Relationship Type="http://schemas.openxmlformats.org/officeDocument/2006/relationships/slide" Target="/ppt/slides/slide18.xml" Id="R8be64ebd47af474a" /><Relationship Type="http://schemas.openxmlformats.org/officeDocument/2006/relationships/slide" Target="/ppt/slides/slide19.xml" Id="R52f85bd10b3c4f8b" /><Relationship Type="http://schemas.openxmlformats.org/officeDocument/2006/relationships/slide" Target="/ppt/slides/slide20.xml" Id="R93da20dfb5774859"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450adae6c048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e61ecaafcf49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00ecc8d19745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3418e7c3174b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b3804db0204fe0"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b382590eca0645e7"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85ad411341424a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606d94f62b45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bd021013c54d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a9e34f44f945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abbc41eead4b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301cb5f0b841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3dd771b57a44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362594c32d41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57331cfa5a47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b3e5eb990e430d" /><Relationship Type="http://schemas.openxmlformats.org/officeDocument/2006/relationships/chart" Target="/ppt/slides/charts/chart1.xml" Id="Rabfab838a51f43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0d28fe3cfa41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9c56bdd40546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4eddfaa1d044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4759d04338440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6a98e7abd84b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e7540e5efae4e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a38710d5c049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8c7dd09240b45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8cae069d564f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a7d2557aca347db" /></Relationships>
</file>

<file path=ppt/slides/charts/chart1.xml><?xml version="1.0" encoding="utf-8"?>
<c:chartSpace xmlns:c="http://schemas.openxmlformats.org/drawingml/2006/chart">
  <c:date1904 val="0"/>
  <c:chart>
    <c:plotArea>
      <c:layout/>
      <c:barChart>
        <c:barDir val="col"/>
        <c:grouping val="clustered"/>
        <c:varyColors val="0"/>
        <c:ser>
          <c:idx val="0"/>
          <c:order val="0"/>
          <c:tx>
            <c:v>Máy bay</c:v>
          </c:tx>
          <c:spPr>
            <a:solidFill xmlns:a="http://schemas.openxmlformats.org/drawingml/2006/main">
              <a:srgbClr val="4472C4"/>
            </a:solidFill>
          </c:spPr>
          <c:invertIfNegative val="0"/>
          <c:cat>
            <c:strLit>
              <c:ptCount val="6"/>
              <c:pt idx="0">
                <c:v>T1</c:v>
              </c:pt>
              <c:pt idx="1">
                <c:v>T2</c:v>
              </c:pt>
              <c:pt idx="2">
                <c:v>T3</c:v>
              </c:pt>
              <c:pt idx="3">
                <c:v>T4</c:v>
              </c:pt>
              <c:pt idx="4">
                <c:v>T5</c:v>
              </c:pt>
              <c:pt idx="5">
                <c:v>T6</c:v>
              </c:pt>
            </c:strLit>
          </c:cat>
          <c:val>
            <c:numLit>
              <c:formatCode>General</c:formatCode>
              <c:ptCount val="6"/>
              <c:pt idx="0">
                <c:v>1200000</c:v>
              </c:pt>
              <c:pt idx="1">
                <c:v>1350000</c:v>
              </c:pt>
              <c:pt idx="2">
                <c:v>1280000</c:v>
              </c:pt>
              <c:pt idx="3">
                <c:v>1500000</c:v>
              </c:pt>
              <c:pt idx="4">
                <c:v>1180000</c:v>
              </c:pt>
              <c:pt idx="5">
                <c:v>1400000</c:v>
              </c:pt>
            </c:numLit>
          </c:val>
        </c:ser>
        <c:ser>
          <c:idx val="1"/>
          <c:order val="1"/>
          <c:tx>
            <c:v>Tàu</c:v>
          </c:tx>
          <c:spPr>
            <a:solidFill xmlns:a="http://schemas.openxmlformats.org/drawingml/2006/main">
              <a:srgbClr val="ED7D31"/>
            </a:solidFill>
          </c:spPr>
          <c:invertIfNegative val="0"/>
          <c:cat>
            <c:strLit>
              <c:ptCount val="6"/>
              <c:pt idx="0">
                <c:v>T1</c:v>
              </c:pt>
              <c:pt idx="1">
                <c:v>T2</c:v>
              </c:pt>
              <c:pt idx="2">
                <c:v>T3</c:v>
              </c:pt>
              <c:pt idx="3">
                <c:v>T4</c:v>
              </c:pt>
              <c:pt idx="4">
                <c:v>T5</c:v>
              </c:pt>
              <c:pt idx="5">
                <c:v>T6</c:v>
              </c:pt>
            </c:strLit>
          </c:cat>
          <c:val>
            <c:numLit>
              <c:formatCode>General</c:formatCode>
              <c:ptCount val="6"/>
              <c:pt idx="0">
                <c:v>420000</c:v>
              </c:pt>
              <c:pt idx="1">
                <c:v>450000</c:v>
              </c:pt>
              <c:pt idx="2">
                <c:v>410000</c:v>
              </c:pt>
              <c:pt idx="3">
                <c:v>470000</c:v>
              </c:pt>
              <c:pt idx="4">
                <c:v>400000</c:v>
              </c:pt>
              <c:pt idx="5">
                <c:v>430000</c:v>
              </c:pt>
            </c:numLit>
          </c:val>
        </c:ser>
        <c:ser>
          <c:idx val="2"/>
          <c:order val="2"/>
          <c:tx>
            <c:v>Xe</c:v>
          </c:tx>
          <c:spPr>
            <a:solidFill xmlns:a="http://schemas.openxmlformats.org/drawingml/2006/main">
              <a:srgbClr val="A5A5A5"/>
            </a:solidFill>
          </c:spPr>
          <c:invertIfNegative val="0"/>
          <c:cat>
            <c:strLit>
              <c:ptCount val="6"/>
              <c:pt idx="0">
                <c:v>T1</c:v>
              </c:pt>
              <c:pt idx="1">
                <c:v>T2</c:v>
              </c:pt>
              <c:pt idx="2">
                <c:v>T3</c:v>
              </c:pt>
              <c:pt idx="3">
                <c:v>T4</c:v>
              </c:pt>
              <c:pt idx="4">
                <c:v>T5</c:v>
              </c:pt>
              <c:pt idx="5">
                <c:v>T6</c:v>
              </c:pt>
            </c:strLit>
          </c:cat>
          <c:val>
            <c:numLit>
              <c:formatCode>General</c:formatCode>
              <c:ptCount val="6"/>
              <c:pt idx="0">
                <c:v>350000</c:v>
              </c:pt>
              <c:pt idx="1">
                <c:v>330000</c:v>
              </c:pt>
              <c:pt idx="2">
                <c:v>370000</c:v>
              </c:pt>
              <c:pt idx="3">
                <c:v>340000</c:v>
              </c:pt>
              <c:pt idx="4">
                <c:v>360000</c:v>
              </c:pt>
              <c:pt idx="5">
                <c:v>320000</c:v>
              </c:pt>
            </c:numLit>
          </c:val>
        </c:ser>
        <c:gapWidth val="150"/>
        <c:axId val="1"/>
        <c:axId val="2"/>
      </c:barChart>
      <c:catAx>
        <c:axId val="1"/>
        <c:scaling>
          <c:orientation val="minMax"/>
        </c:scaling>
        <c:delete val="0"/>
        <c:axPos val="b"/>
        <c:majorTickMark val="out"/>
        <c:minorTickMark val="none"/>
        <c:tickLblPos val="nextTo"/>
        <c:txPr>
          <a:bodyPr xmlns:a="http://schemas.openxmlformats.org/drawingml/2006/main"/>
          <a:lstStyle xmlns:a="http://schemas.openxmlformats.org/drawingml/2006/main"/>
          <a:p xmlns:a="http://schemas.openxmlformats.org/drawingml/2006/main">
            <a:pPr>
              <a:defRPr sz="1000">
                <a:solidFill>
                  <a:srgbClr val="64748B"/>
                </a:solidFill>
              </a:defRPr>
            </a:pPr>
          </a:p>
        </c:txPr>
        <c:crossAx val="2"/>
        <c:crosses val="autoZero"/>
        <c:auto val="1"/>
        <c:lblAlgn val="ctr"/>
        <c:lblOffset val="100"/>
      </c:catAx>
      <c:valAx>
        <c:axId val="2"/>
        <c:scaling>
          <c:orientation val="minMax"/>
        </c:scaling>
        <c:delete val="0"/>
        <c:axPos val="l"/>
        <c:majorGridlines/>
        <c:numFmt formatCode="General" sourceLinked="1"/>
        <c:majorTickMark val="out"/>
        <c:minorTickMark val="none"/>
        <c:tickLblPos val="nextTo"/>
        <c:txPr>
          <a:bodyPr xmlns:a="http://schemas.openxmlformats.org/drawingml/2006/main"/>
          <a:lstStyle xmlns:a="http://schemas.openxmlformats.org/drawingml/2006/main"/>
          <a:p xmlns:a="http://schemas.openxmlformats.org/drawingml/2006/main">
            <a:pPr>
              <a:defRPr sz="1000">
                <a:solidFill>
                  <a:srgbClr val="64748B"/>
                </a:solidFill>
              </a:defRPr>
            </a:pPr>
          </a:p>
        </c:txPr>
        <c:crossAx val="1"/>
        <c:crosses val="autoZero"/>
        <c:crossBetween val="between"/>
      </c:valAx>
    </c:plotArea>
    <c:legend>
      <c:legendPos val="b"/>
      <c:overlay val="0"/>
    </c:legend>
    <c:plotVisOnly val="1"/>
    <c:dispBlanksAs val="gap"/>
  </c:chart>
</c:chartSpace>
</file>

<file path=ppt/slides/slide1.xml><?xml version="1.0" encoding="utf-8"?>
<p:sld xmlns:p="http://schemas.openxmlformats.org/presentationml/2006/main">
  <p:cSld>
    <p:bg>
      <p:bgPr>
        <a:solidFill xmlns:a="http://schemas.openxmlformats.org/drawingml/2006/main">
          <a:srgbClr val="0F1E3D"/>
        </a:solidFill>
      </p:bgPr>
    </p:bg>
    <p:spTree>
      <p:nvGrpSpPr>
        <p:cNvPr id="1" name=""/>
        <p:cNvGrpSpPr/>
        <p:nvPr/>
      </p:nvGrpSpPr>
      <p:grpSpPr/>
      <p:sp>
        <p:nvSpPr>
          <p:cNvPr id="100000" name="TextBox 1"/>
          <p:cNvSpPr/>
          <p:nvPr/>
        </p:nvSpPr>
        <p:spPr>
          <a:xfrm xmlns:a="http://schemas.openxmlformats.org/drawingml/2006/main">
            <a:off x="0" y="0"/>
            <a:ext cx="12193200" cy="6858000"/>
          </a:xfrm>
          <a:prstGeom xmlns:a="http://schemas.openxmlformats.org/drawingml/2006/main" prst="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001" name="TextBox 2"/>
          <p:cNvSpPr/>
          <p:nvPr/>
        </p:nvSpPr>
        <p:spPr>
          <a:xfrm xmlns:a="http://schemas.openxmlformats.org/drawingml/2006/main">
            <a:off x="576000" y="792000"/>
            <a:ext cx="2340000" cy="57600"/>
          </a:xfrm>
          <a:prstGeom xmlns:a="http://schemas.openxmlformats.org/drawingml/2006/main" prst="rect">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002" name="TextBox 3"/>
          <p:cNvSpPr txBox="1"/>
          <p:nvPr/>
        </p:nvSpPr>
        <p:spPr>
          <a:xfrm xmlns:a="http://schemas.openxmlformats.org/drawingml/2006/main">
            <a:off x="576000" y="1080000"/>
            <a:ext cx="11160000" cy="11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6000" b="1">
                <a:solidFill>
                  <a:srgbClr val="FFFFFF"/>
                </a:solidFill>
                <a:latin typeface="Segoe UI"/>
                <a:ea typeface="Segoe UI"/>
              </a:rPr>
              <a:t>VÉ247</a:t>
            </a:r>
          </a:p>
        </p:txBody>
      </p:sp>
      <p:sp>
        <p:nvSpPr>
          <p:cNvPr id="100003" name="TextBox 4"/>
          <p:cNvSpPr txBox="1"/>
          <p:nvPr/>
        </p:nvSpPr>
        <p:spPr>
          <a:xfrm xmlns:a="http://schemas.openxmlformats.org/drawingml/2006/main">
            <a:off x="576000" y="2340000"/>
            <a:ext cx="10980000" cy="86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900" b="0">
                <a:solidFill>
                  <a:srgbClr val="06B6D4"/>
                </a:solidFill>
                <a:latin typeface="Segoe UI"/>
                <a:ea typeface="Segoe UI"/>
              </a:rPr>
              <a:t>Website tổng hợp dữ liệu vé máy bay, tàu hỏa, xe khách</a:t>
            </a:r>
          </a:p>
          <a:p xmlns:a="http://schemas.openxmlformats.org/drawingml/2006/main">
            <a:r>
              <a:rPr lang="en-US" sz="1900" b="0">
                <a:solidFill>
                  <a:srgbClr val="06B6D4"/>
                </a:solidFill>
                <a:latin typeface="Segoe UI"/>
                <a:ea typeface="Segoe UI"/>
              </a:rPr>
              <a:t>và gợi ý so sánh giá vé theo thời gian thực</a:t>
            </a:r>
          </a:p>
        </p:txBody>
      </p:sp>
      <p:sp>
        <p:nvSpPr>
          <p:cNvPr id="100004" name="TextBox 5"/>
          <p:cNvSpPr txBox="1"/>
          <p:nvPr/>
        </p:nvSpPr>
        <p:spPr>
          <a:xfrm xmlns:a="http://schemas.openxmlformats.org/drawingml/2006/main">
            <a:off x="576000" y="3672000"/>
            <a:ext cx="72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1">
                <a:solidFill>
                  <a:srgbClr val="64748B"/>
                </a:solidFill>
                <a:latin typeface="Segoe UI"/>
                <a:ea typeface="Segoe UI"/>
              </a:rPr>
              <a:t>ĐỒ ÁN MÔN HỌC 2</a:t>
            </a:r>
          </a:p>
        </p:txBody>
      </p:sp>
      <p:sp>
        <p:nvSpPr>
          <p:cNvPr id="100005" name="TextBox 6"/>
          <p:cNvSpPr txBox="1"/>
          <p:nvPr/>
        </p:nvSpPr>
        <p:spPr>
          <a:xfrm xmlns:a="http://schemas.openxmlformats.org/drawingml/2006/main">
            <a:off x="576000" y="4104000"/>
            <a:ext cx="72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0">
                <a:solidFill>
                  <a:srgbClr val="FFFFFF"/>
                </a:solidFill>
                <a:latin typeface="Segoe UI"/>
                <a:ea typeface="Segoe UI"/>
              </a:rPr>
              <a:t>Sinh viên: Nguyễn Thị Huỳnh Giao</a:t>
            </a:r>
          </a:p>
        </p:txBody>
      </p:sp>
      <p:sp>
        <p:nvSpPr>
          <p:cNvPr id="100006" name="TextBox 7"/>
          <p:cNvSpPr txBox="1"/>
          <p:nvPr/>
        </p:nvSpPr>
        <p:spPr>
          <a:xfrm xmlns:a="http://schemas.openxmlformats.org/drawingml/2006/main">
            <a:off x="576000" y="4680000"/>
            <a:ext cx="72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0">
                <a:solidFill>
                  <a:srgbClr val="FFFFFF"/>
                </a:solidFill>
                <a:latin typeface="Segoe UI"/>
                <a:ea typeface="Segoe UI"/>
              </a:rPr>
              <a:t>Giảng viên hướng dẫn: [Tên giảng viên]</a:t>
            </a:r>
          </a:p>
        </p:txBody>
      </p:sp>
      <p:sp>
        <p:nvSpPr>
          <p:cNvPr id="100007" name="TextBox 8"/>
          <p:cNvSpPr txBox="1"/>
          <p:nvPr/>
        </p:nvSpPr>
        <p:spPr>
          <a:xfrm xmlns:a="http://schemas.openxmlformats.org/drawingml/2006/main">
            <a:off x="576000" y="5256000"/>
            <a:ext cx="72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0">
                <a:solidFill>
                  <a:srgbClr val="FFFFFF"/>
                </a:solidFill>
                <a:latin typeface="Segoe UI"/>
                <a:ea typeface="Segoe UI"/>
              </a:rPr>
              <a:t>Trường: [Tên trường]</a:t>
            </a:r>
          </a:p>
        </p:txBody>
      </p:sp>
      <p:sp>
        <p:nvSpPr>
          <p:cNvPr id="100008" name="TextBox 9"/>
          <p:cNvSpPr txBox="1"/>
          <p:nvPr/>
        </p:nvSpPr>
        <p:spPr>
          <a:xfrm xmlns:a="http://schemas.openxmlformats.org/drawingml/2006/main">
            <a:off x="576000" y="5832000"/>
            <a:ext cx="72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64748B"/>
                </a:solidFill>
                <a:latin typeface="Segoe UI"/>
                <a:ea typeface="Segoe UI"/>
              </a:rPr>
              <a:t>Năm 2026</a:t>
            </a:r>
          </a:p>
        </p:txBody>
      </p:sp>
    </p:spTree>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09"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Giới thiệu &amp; bối cảnh đề tài</a:t>
            </a:r>
          </a:p>
        </p:txBody>
      </p:sp>
      <p:sp>
        <p:nvSpPr>
          <p:cNvPr id="100010"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11" name="TextBox 3"/>
          <p:cNvSpPr/>
          <p:nvPr/>
        </p:nvSpPr>
        <p:spPr>
          <a:xfrm xmlns:a="http://schemas.openxmlformats.org/drawingml/2006/main">
            <a:off x="540000" y="1224000"/>
            <a:ext cx="5400000" cy="396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12" name="TextBox 4"/>
          <p:cNvSpPr txBox="1"/>
          <p:nvPr/>
        </p:nvSpPr>
        <p:spPr>
          <a:xfrm xmlns:a="http://schemas.openxmlformats.org/drawingml/2006/main">
            <a:off x="756000" y="1404000"/>
            <a:ext cx="4968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b="1">
                <a:solidFill>
                  <a:srgbClr val="0F1E3D"/>
                </a:solidFill>
                <a:latin typeface="Segoe UI"/>
                <a:ea typeface="Segoe UI"/>
              </a:rPr>
              <a:t>Bối cảnh</a:t>
            </a:r>
          </a:p>
        </p:txBody>
      </p:sp>
      <p:sp>
        <p:nvSpPr>
          <p:cNvPr id="100013" name="TextBox 5"/>
          <p:cNvSpPr txBox="1"/>
          <p:nvPr/>
        </p:nvSpPr>
        <p:spPr>
          <a:xfrm xmlns:a="http://schemas.openxmlformats.org/drawingml/2006/main">
            <a:off x="756000" y="1872000"/>
            <a:ext cx="4896000" cy="31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 Nhiều website đặt vé riêng lẻ (hãng bay,</a:t>
            </a:r>
          </a:p>
          <a:p xmlns:a="http://schemas.openxmlformats.org/drawingml/2006/main">
            <a:r>
              <a:rPr lang="en-US" sz="1300" b="0">
                <a:solidFill>
                  <a:srgbClr val="1E293B"/>
                </a:solidFill>
                <a:latin typeface="Segoe UI"/>
                <a:ea typeface="Segoe UI"/>
              </a:rPr>
              <a:t>   đường sắt, nhà xe) khiến việc so sánh</a:t>
            </a:r>
          </a:p>
          <a:p xmlns:a="http://schemas.openxmlformats.org/drawingml/2006/main">
            <a:r>
              <a:rPr lang="en-US" sz="1300" b="0">
                <a:solidFill>
                  <a:srgbClr val="1E293B"/>
                </a:solidFill>
                <a:latin typeface="Segoe UI"/>
                <a:ea typeface="Segoe UI"/>
              </a:rPr>
              <a:t>   giá thủ công, mất thời gian.</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Giá vé biến động theo mùa, thời điểm,</a:t>
            </a:r>
          </a:p>
          <a:p xmlns:a="http://schemas.openxmlformats.org/drawingml/2006/main">
            <a:r>
              <a:rPr lang="en-US" sz="1300" b="0">
                <a:solidFill>
                  <a:srgbClr val="1E293B"/>
                </a:solidFill>
                <a:latin typeface="Segoe UI"/>
                <a:ea typeface="Segoe UI"/>
              </a:rPr>
              <a:t>   hãng vận hành.</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Người dùng khó chọn phương tiện tối ưu</a:t>
            </a:r>
          </a:p>
          <a:p xmlns:a="http://schemas.openxmlformats.org/drawingml/2006/main">
            <a:r>
              <a:rPr lang="en-US" sz="1300" b="0">
                <a:solidFill>
                  <a:srgbClr val="1E293B"/>
                </a:solidFill>
                <a:latin typeface="Segoe UI"/>
                <a:ea typeface="Segoe UI"/>
              </a:rPr>
              <a:t>   giữa chi phí và thời gian.</a:t>
            </a:r>
          </a:p>
        </p:txBody>
      </p:sp>
      <p:sp>
        <p:nvSpPr>
          <p:cNvPr id="100014" name="TextBox 6"/>
          <p:cNvSpPr/>
          <p:nvPr/>
        </p:nvSpPr>
        <p:spPr>
          <a:xfrm xmlns:a="http://schemas.openxmlformats.org/drawingml/2006/main">
            <a:off x="6228000" y="1224000"/>
            <a:ext cx="5400000" cy="396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15" name="TextBox 7"/>
          <p:cNvSpPr txBox="1"/>
          <p:nvPr/>
        </p:nvSpPr>
        <p:spPr>
          <a:xfrm xmlns:a="http://schemas.openxmlformats.org/drawingml/2006/main">
            <a:off x="6444000" y="1404000"/>
            <a:ext cx="4968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b="1">
                <a:solidFill>
                  <a:srgbClr val="0F1E3D"/>
                </a:solidFill>
                <a:latin typeface="Segoe UI"/>
                <a:ea typeface="Segoe UI"/>
              </a:rPr>
              <a:t>Vé247 là gì?</a:t>
            </a:r>
          </a:p>
        </p:txBody>
      </p:sp>
      <p:sp>
        <p:nvSpPr>
          <p:cNvPr id="100016" name="TextBox 8"/>
          <p:cNvSpPr txBox="1"/>
          <p:nvPr/>
        </p:nvSpPr>
        <p:spPr>
          <a:xfrm xmlns:a="http://schemas.openxmlformats.org/drawingml/2006/main">
            <a:off x="6444000" y="1872000"/>
            <a:ext cx="4896000" cy="31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 Tổng hợp vé máy bay, tàu hỏa, xe khách</a:t>
            </a:r>
          </a:p>
          <a:p xmlns:a="http://schemas.openxmlformats.org/drawingml/2006/main">
            <a:r>
              <a:rPr lang="en-US" sz="1300" b="0">
                <a:solidFill>
                  <a:srgbClr val="1E293B"/>
                </a:solidFill>
                <a:latin typeface="Segoe UI"/>
                <a:ea typeface="Segoe UI"/>
              </a:rPr>
              <a:t>   tại một nơi.</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So sánh giá theo thời gian thực, biểu đồ</a:t>
            </a:r>
          </a:p>
          <a:p xmlns:a="http://schemas.openxmlformats.org/drawingml/2006/main">
            <a:r>
              <a:rPr lang="en-US" sz="1300" b="0">
                <a:solidFill>
                  <a:srgbClr val="1E293B"/>
                </a:solidFill>
                <a:latin typeface="Segoe UI"/>
                <a:ea typeface="Segoe UI"/>
              </a:rPr>
              <a:t>   xu hướng, dự đoán giá.</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Gợi ý lộ trình tối ưu chi phí — thời gian.</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Đặt vé trực tiếp hoặc chuyển hướng sang</a:t>
            </a:r>
          </a:p>
          <a:p xmlns:a="http://schemas.openxmlformats.org/drawingml/2006/main">
            <a:r>
              <a:rPr lang="en-US" sz="1300" b="0">
                <a:solidFill>
                  <a:srgbClr val="1E293B"/>
                </a:solidFill>
                <a:latin typeface="Segoe UI"/>
                <a:ea typeface="Segoe UI"/>
              </a:rPr>
              <a:t>   trang đặt vé chính thức.</a:t>
            </a:r>
          </a:p>
        </p:txBody>
      </p:sp>
      <p:sp>
        <p:nvSpPr>
          <p:cNvPr id="100017" name="TextBox 9"/>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018" name="TextBox 10"/>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2</a:t>
            </a:r>
          </a:p>
        </p:txBody>
      </p:sp>
    </p:spTree>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19"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Mục tiêu &amp; phạm vi đề tài</a:t>
            </a:r>
          </a:p>
        </p:txBody>
      </p:sp>
      <p:sp>
        <p:nvSpPr>
          <p:cNvPr id="100020"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21" name="TextBox 3"/>
          <p:cNvSpPr txBox="1"/>
          <p:nvPr/>
        </p:nvSpPr>
        <p:spPr>
          <a:xfrm xmlns:a="http://schemas.openxmlformats.org/drawingml/2006/main">
            <a:off x="540000" y="1224000"/>
            <a:ext cx="54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0F1E3D"/>
                </a:solidFill>
                <a:latin typeface="Segoe UI"/>
                <a:ea typeface="Segoe UI"/>
              </a:rPr>
              <a:t>Mục tiêu</a:t>
            </a:r>
          </a:p>
        </p:txBody>
      </p:sp>
      <p:sp>
        <p:nvSpPr>
          <p:cNvPr id="100022" name="TextBox 4"/>
          <p:cNvSpPr txBox="1"/>
          <p:nvPr/>
        </p:nvSpPr>
        <p:spPr>
          <a:xfrm xmlns:a="http://schemas.openxmlformats.org/drawingml/2006/main">
            <a:off x="540000" y="1692000"/>
            <a:ext cx="558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 Một cổng tra cứu duy nhất cho 3 loại vé.</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So sánh giá minh bạch, cập nhật theo</a:t>
            </a:r>
          </a:p>
          <a:p xmlns:a="http://schemas.openxmlformats.org/drawingml/2006/main">
            <a:r>
              <a:rPr lang="en-US" sz="1300" b="0">
                <a:solidFill>
                  <a:srgbClr val="1E293B"/>
                </a:solidFill>
                <a:latin typeface="Segoe UI"/>
                <a:ea typeface="Segoe UI"/>
              </a:rPr>
              <a:t>   thời gian thực.</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Gợi ý lộ trình tối ưu (rẻ / nhanh / ít</a:t>
            </a:r>
          </a:p>
          <a:p xmlns:a="http://schemas.openxmlformats.org/drawingml/2006/main">
            <a:r>
              <a:rPr lang="en-US" sz="1300" b="0">
                <a:solidFill>
                  <a:srgbClr val="1E293B"/>
                </a:solidFill>
                <a:latin typeface="Segoe UI"/>
                <a:ea typeface="Segoe UI"/>
              </a:rPr>
              <a:t>   trung chuyển).</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Đặt vé, thanh toán đa cổng, xác thực</a:t>
            </a:r>
          </a:p>
          <a:p xmlns:a="http://schemas.openxmlformats.org/drawingml/2006/main">
            <a:r>
              <a:rPr lang="en-US" sz="1300" b="0">
                <a:solidFill>
                  <a:srgbClr val="1E293B"/>
                </a:solidFill>
                <a:latin typeface="Segoe UI"/>
                <a:ea typeface="Segoe UI"/>
              </a:rPr>
              <a:t>   người dùng.</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Trang quản trị cho nhà vận hành.</a:t>
            </a:r>
          </a:p>
        </p:txBody>
      </p:sp>
      <p:sp>
        <p:nvSpPr>
          <p:cNvPr id="100023" name="TextBox 5"/>
          <p:cNvSpPr/>
          <p:nvPr/>
        </p:nvSpPr>
        <p:spPr>
          <a:xfrm xmlns:a="http://schemas.openxmlformats.org/drawingml/2006/main">
            <a:off x="6552000" y="1224000"/>
            <a:ext cx="5112000" cy="453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24" name="TextBox 6"/>
          <p:cNvSpPr txBox="1"/>
          <p:nvPr/>
        </p:nvSpPr>
        <p:spPr>
          <a:xfrm xmlns:a="http://schemas.openxmlformats.org/drawingml/2006/main">
            <a:off x="6768000" y="1404000"/>
            <a:ext cx="468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0F1E3D"/>
                </a:solidFill>
                <a:latin typeface="Segoe UI"/>
                <a:ea typeface="Segoe UI"/>
              </a:rPr>
              <a:t>Phạm vi</a:t>
            </a:r>
          </a:p>
        </p:txBody>
      </p:sp>
      <p:sp>
        <p:nvSpPr>
          <p:cNvPr id="100025" name="TextBox 7"/>
          <p:cNvSpPr txBox="1"/>
          <p:nvPr/>
        </p:nvSpPr>
        <p:spPr>
          <a:xfrm xmlns:a="http://schemas.openxmlformats.org/drawingml/2006/main">
            <a:off x="6768000" y="1872000"/>
            <a:ext cx="4680000" cy="367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 Web app 3 tầng: React + ASP.NET Core</a:t>
            </a:r>
          </a:p>
          <a:p xmlns:a="http://schemas.openxmlformats.org/drawingml/2006/main">
            <a:r>
              <a:rPr lang="en-US" sz="1300" b="0">
                <a:solidFill>
                  <a:srgbClr val="1E293B"/>
                </a:solidFill>
                <a:latin typeface="Segoe UI"/>
                <a:ea typeface="Segoe UI"/>
              </a:rPr>
              <a:t>   + Azure SQL.</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Dữ liệu mẫu seed tự động khi khởi động</a:t>
            </a:r>
          </a:p>
          <a:p xmlns:a="http://schemas.openxmlformats.org/drawingml/2006/main">
            <a:r>
              <a:rPr lang="en-US" sz="1300" b="0">
                <a:solidFill>
                  <a:srgbClr val="1E293B"/>
                </a:solidFill>
                <a:latin typeface="Segoe UI"/>
                <a:ea typeface="Segoe UI"/>
              </a:rPr>
              <a:t>   (idempotent, không xóa dữ liệu).</a:t>
            </a:r>
          </a:p>
          <a:p xmlns:a="http://schemas.openxmlformats.org/drawingml/2006/main">
            <a:r>
              <a:rPr lang="en-US" sz="1300" b="0">
                <a:solidFill>
                  <a:srgbClr val="1E293B"/>
                </a:solidFill>
                <a:latin typeface="Segoe UI"/>
                <a:ea typeface="Segoe UI"/>
              </a:rPr>
              <a:t/>
            </a:r>
          </a:p>
          <a:p xmlns:a="http://schemas.openxmlformats.org/drawingml/2006/main">
            <a:r>
              <a:rPr lang="en-US" sz="1300" b="0">
                <a:solidFill>
                  <a:srgbClr val="1E293B"/>
                </a:solidFill>
                <a:latin typeface="Segoe UI"/>
                <a:ea typeface="Segoe UI"/>
              </a:rPr>
              <a:t>• Ngoài phạm vi: API giá vé thật của hãng</a:t>
            </a:r>
          </a:p>
          <a:p xmlns:a="http://schemas.openxmlformats.org/drawingml/2006/main">
            <a:r>
              <a:rPr lang="en-US" sz="1300" b="0">
                <a:solidFill>
                  <a:srgbClr val="1E293B"/>
                </a:solidFill>
                <a:latin typeface="Segoe UI"/>
                <a:ea typeface="Segoe UI"/>
              </a:rPr>
              <a:t>   (đang ở giai đoạn tích hợp IPriceSource).</a:t>
            </a:r>
          </a:p>
        </p:txBody>
      </p:sp>
      <p:sp>
        <p:nvSpPr>
          <p:cNvPr id="100026" name="TextBox 8"/>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027" name="TextBox 9"/>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3</a:t>
            </a:r>
          </a:p>
        </p:txBody>
      </p:sp>
    </p:spTree>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28"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Vấn đề &amp; lý do chọn đề tài</a:t>
            </a:r>
          </a:p>
        </p:txBody>
      </p:sp>
      <p:sp>
        <p:nvSpPr>
          <p:cNvPr id="100029"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30" name="TextBox 3"/>
          <p:cNvSpPr/>
          <p:nvPr/>
        </p:nvSpPr>
        <p:spPr>
          <a:xfrm xmlns:a="http://schemas.openxmlformats.org/drawingml/2006/main">
            <a:off x="540000" y="1224000"/>
            <a:ext cx="5472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31" name="TextBox 4"/>
          <p:cNvSpPr txBox="1"/>
          <p:nvPr/>
        </p:nvSpPr>
        <p:spPr>
          <a:xfrm xmlns:a="http://schemas.openxmlformats.org/drawingml/2006/main">
            <a:off x="756000" y="1368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1. Rời rạc dữ liệu</a:t>
            </a:r>
          </a:p>
        </p:txBody>
      </p:sp>
      <p:sp>
        <p:nvSpPr>
          <p:cNvPr id="100032" name="TextBox 5"/>
          <p:cNvSpPr txBox="1"/>
          <p:nvPr/>
        </p:nvSpPr>
        <p:spPr>
          <a:xfrm xmlns:a="http://schemas.openxmlformats.org/drawingml/2006/main">
            <a:off x="756000" y="1764000"/>
            <a:ext cx="5040000" cy="13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Mỗi loại phương tiện nằm ở một hệ thống</a:t>
            </a:r>
          </a:p>
          <a:p xmlns:a="http://schemas.openxmlformats.org/drawingml/2006/main">
            <a:r>
              <a:rPr lang="en-US" sz="1300" b="0">
                <a:solidFill>
                  <a:srgbClr val="1E293B"/>
                </a:solidFill>
                <a:latin typeface="Segoe UI"/>
                <a:ea typeface="Segoe UI"/>
              </a:rPr>
              <a:t>riêng; không có nơi nào so sánh chung 3 loại</a:t>
            </a:r>
          </a:p>
          <a:p xmlns:a="http://schemas.openxmlformats.org/drawingml/2006/main">
            <a:r>
              <a:rPr lang="en-US" sz="1300" b="0">
                <a:solidFill>
                  <a:srgbClr val="1E293B"/>
                </a:solidFill>
                <a:latin typeface="Segoe UI"/>
                <a:ea typeface="Segoe UI"/>
              </a:rPr>
              <a:t>vé trên cùng một tuyến đường.</a:t>
            </a:r>
          </a:p>
        </p:txBody>
      </p:sp>
      <p:sp>
        <p:nvSpPr>
          <p:cNvPr id="100033" name="TextBox 6"/>
          <p:cNvSpPr/>
          <p:nvPr/>
        </p:nvSpPr>
        <p:spPr>
          <a:xfrm xmlns:a="http://schemas.openxmlformats.org/drawingml/2006/main">
            <a:off x="6192000" y="1224000"/>
            <a:ext cx="5472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34" name="TextBox 7"/>
          <p:cNvSpPr txBox="1"/>
          <p:nvPr/>
        </p:nvSpPr>
        <p:spPr>
          <a:xfrm xmlns:a="http://schemas.openxmlformats.org/drawingml/2006/main">
            <a:off x="6408000" y="1368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2. Giá biến động</a:t>
            </a:r>
          </a:p>
        </p:txBody>
      </p:sp>
      <p:sp>
        <p:nvSpPr>
          <p:cNvPr id="100035" name="TextBox 8"/>
          <p:cNvSpPr txBox="1"/>
          <p:nvPr/>
        </p:nvSpPr>
        <p:spPr>
          <a:xfrm xmlns:a="http://schemas.openxmlformats.org/drawingml/2006/main">
            <a:off x="6408000" y="1764000"/>
            <a:ext cx="5040000" cy="13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Giá vé thay đổi theo mùa, thời điểm và</a:t>
            </a:r>
          </a:p>
          <a:p xmlns:a="http://schemas.openxmlformats.org/drawingml/2006/main">
            <a:r>
              <a:rPr lang="en-US" sz="1300" b="0">
                <a:solidFill>
                  <a:srgbClr val="1E293B"/>
                </a:solidFill>
                <a:latin typeface="Segoe UI"/>
                <a:ea typeface="Segoe UI"/>
              </a:rPr>
              <a:t>hãng; người dùng khó nắm bắt xu hướng</a:t>
            </a:r>
          </a:p>
          <a:p xmlns:a="http://schemas.openxmlformats.org/drawingml/2006/main">
            <a:r>
              <a:rPr lang="en-US" sz="1300" b="0">
                <a:solidFill>
                  <a:srgbClr val="1E293B"/>
                </a:solidFill>
                <a:latin typeface="Segoe UI"/>
                <a:ea typeface="Segoe UI"/>
              </a:rPr>
              <a:t>để chọn thời điểm đặt vé hợp lý.</a:t>
            </a:r>
          </a:p>
        </p:txBody>
      </p:sp>
      <p:sp>
        <p:nvSpPr>
          <p:cNvPr id="100036" name="TextBox 9"/>
          <p:cNvSpPr/>
          <p:nvPr/>
        </p:nvSpPr>
        <p:spPr>
          <a:xfrm xmlns:a="http://schemas.openxmlformats.org/drawingml/2006/main">
            <a:off x="540000" y="3456000"/>
            <a:ext cx="5472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37" name="TextBox 10"/>
          <p:cNvSpPr txBox="1"/>
          <p:nvPr/>
        </p:nvSpPr>
        <p:spPr>
          <a:xfrm xmlns:a="http://schemas.openxmlformats.org/drawingml/2006/main">
            <a:off x="756000" y="3600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3. Tối ưu lộ trình</a:t>
            </a:r>
          </a:p>
        </p:txBody>
      </p:sp>
      <p:sp>
        <p:nvSpPr>
          <p:cNvPr id="100038" name="TextBox 11"/>
          <p:cNvSpPr txBox="1"/>
          <p:nvPr/>
        </p:nvSpPr>
        <p:spPr>
          <a:xfrm xmlns:a="http://schemas.openxmlformats.org/drawingml/2006/main">
            <a:off x="756000" y="3996000"/>
            <a:ext cx="5040000" cy="13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Chưa có công cụ gợi ý kết hợp nhiều</a:t>
            </a:r>
          </a:p>
          <a:p xmlns:a="http://schemas.openxmlformats.org/drawingml/2006/main">
            <a:r>
              <a:rPr lang="en-US" sz="1300" b="0">
                <a:solidFill>
                  <a:srgbClr val="1E293B"/>
                </a:solidFill>
                <a:latin typeface="Segoe UI"/>
                <a:ea typeface="Segoe UI"/>
              </a:rPr>
              <a:t>phương tiện (vd: đi máy bay, về tàu hỏa)</a:t>
            </a:r>
          </a:p>
          <a:p xmlns:a="http://schemas.openxmlformats.org/drawingml/2006/main">
            <a:r>
              <a:rPr lang="en-US" sz="1300" b="0">
                <a:solidFill>
                  <a:srgbClr val="1E293B"/>
                </a:solidFill>
                <a:latin typeface="Segoe UI"/>
                <a:ea typeface="Segoe UI"/>
              </a:rPr>
              <a:t>theo ngân sách và thời gian của người dùng.</a:t>
            </a:r>
          </a:p>
        </p:txBody>
      </p:sp>
      <p:sp>
        <p:nvSpPr>
          <p:cNvPr id="100039" name="TextBox 12"/>
          <p:cNvSpPr/>
          <p:nvPr/>
        </p:nvSpPr>
        <p:spPr>
          <a:xfrm xmlns:a="http://schemas.openxmlformats.org/drawingml/2006/main">
            <a:off x="6192000" y="3456000"/>
            <a:ext cx="5472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40" name="TextBox 13"/>
          <p:cNvSpPr txBox="1"/>
          <p:nvPr/>
        </p:nvSpPr>
        <p:spPr>
          <a:xfrm xmlns:a="http://schemas.openxmlformats.org/drawingml/2006/main">
            <a:off x="6408000" y="3600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4. Nhu cầu thực tế</a:t>
            </a:r>
          </a:p>
        </p:txBody>
      </p:sp>
      <p:sp>
        <p:nvSpPr>
          <p:cNvPr id="100041" name="TextBox 14"/>
          <p:cNvSpPr txBox="1"/>
          <p:nvPr/>
        </p:nvSpPr>
        <p:spPr>
          <a:xfrm xmlns:a="http://schemas.openxmlformats.org/drawingml/2006/main">
            <a:off x="6408000" y="3996000"/>
            <a:ext cx="5040000" cy="13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Nhu cầu di chuyển liên tỉnh cao; một công</a:t>
            </a:r>
          </a:p>
          <a:p xmlns:a="http://schemas.openxmlformats.org/drawingml/2006/main">
            <a:r>
              <a:rPr lang="en-US" sz="1300" b="0">
                <a:solidFill>
                  <a:srgbClr val="1E293B"/>
                </a:solidFill>
                <a:latin typeface="Segoe UI"/>
                <a:ea typeface="Segoe UI"/>
              </a:rPr>
              <a:t>cụ tổng hợp + gợi ý sẽ tiết kiệm thời gian</a:t>
            </a:r>
          </a:p>
          <a:p xmlns:a="http://schemas.openxmlformats.org/drawingml/2006/main">
            <a:r>
              <a:rPr lang="en-US" sz="1300" b="0">
                <a:solidFill>
                  <a:srgbClr val="1E293B"/>
                </a:solidFill>
                <a:latin typeface="Segoe UI"/>
                <a:ea typeface="Segoe UI"/>
              </a:rPr>
              <a:t>và chi phí đáng kể cho người dùng.</a:t>
            </a:r>
          </a:p>
        </p:txBody>
      </p:sp>
      <p:sp>
        <p:nvSpPr>
          <p:cNvPr id="100042" name="TextBox 15"/>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043" name="TextBox 16"/>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4</a:t>
            </a:r>
          </a:p>
        </p:txBody>
      </p:sp>
    </p:spTree>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44"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Kiến trúc tổng quan (3 tầng)</a:t>
            </a:r>
          </a:p>
        </p:txBody>
      </p:sp>
      <p:sp>
        <p:nvSpPr>
          <p:cNvPr id="100045"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46" name="TextBox 3"/>
          <p:cNvSpPr txBox="1"/>
          <p:nvPr/>
        </p:nvSpPr>
        <p:spPr>
          <a:xfrm xmlns:a="http://schemas.openxmlformats.org/drawingml/2006/main">
            <a:off x="540000" y="1224000"/>
            <a:ext cx="1116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User</a:t>
            </a:r>
          </a:p>
        </p:txBody>
      </p:sp>
      <p:sp>
        <p:nvSpPr>
          <p:cNvPr id="100047" name="TextBox 4"/>
          <p:cNvSpPr/>
          <p:nvPr/>
        </p:nvSpPr>
        <p:spPr>
          <a:xfrm xmlns:a="http://schemas.openxmlformats.org/drawingml/2006/main">
            <a:off x="5256000" y="1584000"/>
            <a:ext cx="1620000" cy="1800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48" name="TextBox 5"/>
          <p:cNvSpPr txBox="1"/>
          <p:nvPr/>
        </p:nvSpPr>
        <p:spPr>
          <a:xfrm xmlns:a="http://schemas.openxmlformats.org/drawingml/2006/main">
            <a:off x="4464000" y="1602000"/>
            <a:ext cx="32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1">
                <a:solidFill>
                  <a:srgbClr val="FFFFFF"/>
                </a:solidFill>
                <a:latin typeface="Segoe UI"/>
                <a:ea typeface="Segoe UI"/>
              </a:rPr>
              <a:t>Browser</a:t>
            </a:r>
          </a:p>
        </p:txBody>
      </p:sp>
      <p:sp>
        <p:nvSpPr>
          <p:cNvPr id="100049" name="TextBox 6"/>
          <p:cNvSpPr/>
          <p:nvPr/>
        </p:nvSpPr>
        <p:spPr>
          <a:xfrm xmlns:a="http://schemas.openxmlformats.org/drawingml/2006/main">
            <a:off x="540000" y="1944000"/>
            <a:ext cx="3420000" cy="360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50" name="TextBox 7"/>
          <p:cNvSpPr/>
          <p:nvPr/>
        </p:nvSpPr>
        <p:spPr>
          <a:xfrm xmlns:a="http://schemas.openxmlformats.org/drawingml/2006/main">
            <a:off x="540000" y="1944000"/>
            <a:ext cx="3420000" cy="57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051" name="TextBox 8"/>
          <p:cNvSpPr txBox="1"/>
          <p:nvPr/>
        </p:nvSpPr>
        <p:spPr>
          <a:xfrm xmlns:a="http://schemas.openxmlformats.org/drawingml/2006/main">
            <a:off x="684000" y="2088000"/>
            <a:ext cx="3132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FFFFFF"/>
                </a:solidFill>
                <a:latin typeface="Segoe UI"/>
                <a:ea typeface="Segoe UI"/>
              </a:rPr>
              <a:t>Frontend</a:t>
            </a:r>
          </a:p>
        </p:txBody>
      </p:sp>
      <p:sp>
        <p:nvSpPr>
          <p:cNvPr id="100052" name="TextBox 9"/>
          <p:cNvSpPr txBox="1"/>
          <p:nvPr/>
        </p:nvSpPr>
        <p:spPr>
          <a:xfrm xmlns:a="http://schemas.openxmlformats.org/drawingml/2006/main">
            <a:off x="684000" y="2664000"/>
            <a:ext cx="3132000" cy="273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React 19 + Vite 8</a:t>
            </a:r>
          </a:p>
          <a:p xmlns:a="http://schemas.openxmlformats.org/drawingml/2006/main">
            <a:r>
              <a:rPr lang="en-US" sz="1200" b="0">
                <a:solidFill>
                  <a:srgbClr val="1E293B"/>
                </a:solidFill>
                <a:latin typeface="Segoe UI"/>
                <a:ea typeface="Segoe UI"/>
              </a:rPr>
              <a:t>• Tailwind CSS 4</a:t>
            </a:r>
          </a:p>
          <a:p xmlns:a="http://schemas.openxmlformats.org/drawingml/2006/main">
            <a:r>
              <a:rPr lang="en-US" sz="1200" b="0">
                <a:solidFill>
                  <a:srgbClr val="1E293B"/>
                </a:solidFill>
                <a:latin typeface="Segoe UI"/>
                <a:ea typeface="Segoe UI"/>
              </a:rPr>
              <a:t>• React Router 7</a:t>
            </a:r>
          </a:p>
          <a:p xmlns:a="http://schemas.openxmlformats.org/drawingml/2006/main">
            <a:r>
              <a:rPr lang="en-US" sz="1200" b="0">
                <a:solidFill>
                  <a:srgbClr val="1E293B"/>
                </a:solidFill>
                <a:latin typeface="Segoe UI"/>
                <a:ea typeface="Segoe UI"/>
              </a:rPr>
              <a:t>• framer-motion, recharts</a:t>
            </a:r>
          </a:p>
          <a:p xmlns:a="http://schemas.openxmlformats.org/drawingml/2006/main">
            <a:r>
              <a:rPr lang="en-US" sz="1200" b="0">
                <a:solidFill>
                  <a:srgbClr val="1E293B"/>
                </a:solidFill>
                <a:latin typeface="Segoe UI"/>
                <a:ea typeface="Segoe UI"/>
              </a:rPr>
              <a:t>• @microsoft/signalr</a:t>
            </a:r>
          </a:p>
          <a:p xmlns:a="http://schemas.openxmlformats.org/drawingml/2006/main">
            <a:r>
              <a:rPr lang="en-US" sz="1200" b="0">
                <a:solidFill>
                  <a:srgbClr val="1E293B"/>
                </a:solidFill>
                <a:latin typeface="Segoe UI"/>
                <a:ea typeface="Segoe UI"/>
              </a:rPr>
              <a:t>• Clerk (đăng nhập)</a:t>
            </a:r>
          </a:p>
          <a:p xmlns:a="http://schemas.openxmlformats.org/drawingml/2006/main">
            <a:r>
              <a:rPr lang="en-US" sz="1200" b="0">
                <a:solidFill>
                  <a:srgbClr val="1E293B"/>
                </a:solidFill>
                <a:latin typeface="Segoe UI"/>
                <a:ea typeface="Segoe UI"/>
              </a:rPr>
              <a:t>• Port 5173, proxy /api</a:t>
            </a:r>
          </a:p>
        </p:txBody>
      </p:sp>
      <p:sp>
        <p:nvSpPr>
          <p:cNvPr id="100053" name="TextBox 10"/>
          <p:cNvSpPr/>
          <p:nvPr/>
        </p:nvSpPr>
        <p:spPr>
          <a:xfrm xmlns:a="http://schemas.openxmlformats.org/drawingml/2006/main">
            <a:off x="4176000" y="3384000"/>
            <a:ext cx="576000" cy="360000"/>
          </a:xfrm>
          <a:prstGeom xmlns:a="http://schemas.openxmlformats.org/drawingml/2006/main" prst="right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054" name="TextBox 11"/>
          <p:cNvSpPr/>
          <p:nvPr/>
        </p:nvSpPr>
        <p:spPr>
          <a:xfrm xmlns:a="http://schemas.openxmlformats.org/drawingml/2006/main">
            <a:off x="4572000" y="1944000"/>
            <a:ext cx="3420000" cy="360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55" name="TextBox 12"/>
          <p:cNvSpPr/>
          <p:nvPr/>
        </p:nvSpPr>
        <p:spPr>
          <a:xfrm xmlns:a="http://schemas.openxmlformats.org/drawingml/2006/main">
            <a:off x="4572000" y="1944000"/>
            <a:ext cx="3420000" cy="576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56" name="TextBox 13"/>
          <p:cNvSpPr txBox="1"/>
          <p:nvPr/>
        </p:nvSpPr>
        <p:spPr>
          <a:xfrm xmlns:a="http://schemas.openxmlformats.org/drawingml/2006/main">
            <a:off x="4716000" y="2088000"/>
            <a:ext cx="3132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FFFFFF"/>
                </a:solidFill>
                <a:latin typeface="Segoe UI"/>
                <a:ea typeface="Segoe UI"/>
              </a:rPr>
              <a:t>Backend</a:t>
            </a:r>
          </a:p>
        </p:txBody>
      </p:sp>
      <p:sp>
        <p:nvSpPr>
          <p:cNvPr id="100057" name="TextBox 14"/>
          <p:cNvSpPr txBox="1"/>
          <p:nvPr/>
        </p:nvSpPr>
        <p:spPr>
          <a:xfrm xmlns:a="http://schemas.openxmlformats.org/drawingml/2006/main">
            <a:off x="4716000" y="2664000"/>
            <a:ext cx="3132000" cy="273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ASP.NET Core (.NET 10)</a:t>
            </a:r>
          </a:p>
          <a:p xmlns:a="http://schemas.openxmlformats.org/drawingml/2006/main">
            <a:r>
              <a:rPr lang="en-US" sz="1200" b="0">
                <a:solidFill>
                  <a:srgbClr val="1E293B"/>
                </a:solidFill>
                <a:latin typeface="Segoe UI"/>
                <a:ea typeface="Segoe UI"/>
              </a:rPr>
              <a:t>• REST API</a:t>
            </a:r>
          </a:p>
          <a:p xmlns:a="http://schemas.openxmlformats.org/drawingml/2006/main">
            <a:r>
              <a:rPr lang="en-US" sz="1200" b="0">
                <a:solidFill>
                  <a:srgbClr val="1E293B"/>
                </a:solidFill>
                <a:latin typeface="Segoe UI"/>
                <a:ea typeface="Segoe UI"/>
              </a:rPr>
              <a:t>• EF Core (SQL Server)</a:t>
            </a:r>
          </a:p>
          <a:p xmlns:a="http://schemas.openxmlformats.org/drawingml/2006/main">
            <a:r>
              <a:rPr lang="en-US" sz="1200" b="0">
                <a:solidFill>
                  <a:srgbClr val="1E293B"/>
                </a:solidFill>
                <a:latin typeface="Segoe UI"/>
                <a:ea typeface="Segoe UI"/>
              </a:rPr>
              <a:t>• SignalR (realtime)</a:t>
            </a:r>
          </a:p>
          <a:p xmlns:a="http://schemas.openxmlformats.org/drawingml/2006/main">
            <a:r>
              <a:rPr lang="en-US" sz="1200" b="0">
                <a:solidFill>
                  <a:srgbClr val="1E293B"/>
                </a:solidFill>
                <a:latin typeface="Segoe UI"/>
                <a:ea typeface="Segoe UI"/>
              </a:rPr>
              <a:t>• BCrypt, JWT</a:t>
            </a:r>
          </a:p>
          <a:p xmlns:a="http://schemas.openxmlformats.org/drawingml/2006/main">
            <a:r>
              <a:rPr lang="en-US" sz="1200" b="0">
                <a:solidFill>
                  <a:srgbClr val="1E293B"/>
                </a:solidFill>
                <a:latin typeface="Segoe UI"/>
                <a:ea typeface="Segoe UI"/>
              </a:rPr>
              <a:t>• xUnit tests</a:t>
            </a:r>
          </a:p>
          <a:p xmlns:a="http://schemas.openxmlformats.org/drawingml/2006/main">
            <a:r>
              <a:rPr lang="en-US" sz="1200" b="0">
                <a:solidFill>
                  <a:srgbClr val="1E293B"/>
                </a:solidFill>
                <a:latin typeface="Segoe UI"/>
                <a:ea typeface="Segoe UI"/>
              </a:rPr>
              <a:t>• Port 5000</a:t>
            </a:r>
          </a:p>
        </p:txBody>
      </p:sp>
      <p:sp>
        <p:nvSpPr>
          <p:cNvPr id="100058" name="TextBox 15"/>
          <p:cNvSpPr/>
          <p:nvPr/>
        </p:nvSpPr>
        <p:spPr>
          <a:xfrm xmlns:a="http://schemas.openxmlformats.org/drawingml/2006/main">
            <a:off x="8208000" y="3384000"/>
            <a:ext cx="576000" cy="360000"/>
          </a:xfrm>
          <a:prstGeom xmlns:a="http://schemas.openxmlformats.org/drawingml/2006/main" prst="right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059" name="TextBox 16"/>
          <p:cNvSpPr/>
          <p:nvPr/>
        </p:nvSpPr>
        <p:spPr>
          <a:xfrm xmlns:a="http://schemas.openxmlformats.org/drawingml/2006/main">
            <a:off x="8604000" y="1944000"/>
            <a:ext cx="3060000" cy="360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60" name="TextBox 17"/>
          <p:cNvSpPr/>
          <p:nvPr/>
        </p:nvSpPr>
        <p:spPr>
          <a:xfrm xmlns:a="http://schemas.openxmlformats.org/drawingml/2006/main">
            <a:off x="8604000" y="1944000"/>
            <a:ext cx="3060000" cy="57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061" name="TextBox 18"/>
          <p:cNvSpPr txBox="1"/>
          <p:nvPr/>
        </p:nvSpPr>
        <p:spPr>
          <a:xfrm xmlns:a="http://schemas.openxmlformats.org/drawingml/2006/main">
            <a:off x="8748000" y="2088000"/>
            <a:ext cx="2772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FFFFFF"/>
                </a:solidFill>
                <a:latin typeface="Segoe UI"/>
                <a:ea typeface="Segoe UI"/>
              </a:rPr>
              <a:t>Database</a:t>
            </a:r>
          </a:p>
        </p:txBody>
      </p:sp>
      <p:sp>
        <p:nvSpPr>
          <p:cNvPr id="100062" name="TextBox 19"/>
          <p:cNvSpPr txBox="1"/>
          <p:nvPr/>
        </p:nvSpPr>
        <p:spPr>
          <a:xfrm xmlns:a="http://schemas.openxmlformats.org/drawingml/2006/main">
            <a:off x="8748000" y="2664000"/>
            <a:ext cx="2772000" cy="273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Azure SQL Server</a:t>
            </a:r>
          </a:p>
          <a:p xmlns:a="http://schemas.openxmlformats.org/drawingml/2006/main">
            <a:r>
              <a:rPr lang="en-US" sz="1200" b="0">
                <a:solidFill>
                  <a:srgbClr val="1E293B"/>
                </a:solidFill>
                <a:latin typeface="Segoe UI"/>
                <a:ea typeface="Segoe UI"/>
              </a:rPr>
              <a:t>• Tự tạo schema</a:t>
            </a:r>
          </a:p>
          <a:p xmlns:a="http://schemas.openxmlformats.org/drawingml/2006/main">
            <a:r>
              <a:rPr lang="en-US" sz="1200" b="0">
                <a:solidFill>
                  <a:srgbClr val="1E293B"/>
                </a:solidFill>
                <a:latin typeface="Segoe UI"/>
                <a:ea typeface="Segoe UI"/>
              </a:rPr>
              <a:t>• Seed dữ liệu mẫu</a:t>
            </a:r>
          </a:p>
          <a:p xmlns:a="http://schemas.openxmlformats.org/drawingml/2006/main">
            <a:r>
              <a:rPr lang="en-US" sz="1200" b="0">
                <a:solidFill>
                  <a:srgbClr val="1E293B"/>
                </a:solidFill>
                <a:latin typeface="Segoe UI"/>
                <a:ea typeface="Segoe UI"/>
              </a:rPr>
              <a:t>  (idempotent)</a:t>
            </a:r>
          </a:p>
          <a:p xmlns:a="http://schemas.openxmlformats.org/drawingml/2006/main">
            <a:r>
              <a:rPr lang="en-US" sz="1200" b="0">
                <a:solidFill>
                  <a:srgbClr val="1E293B"/>
                </a:solidFill>
                <a:latin typeface="Segoe UI"/>
                <a:ea typeface="Segoe UI"/>
              </a:rPr>
              <a:t>• 20 bảng nghiệp vụ</a:t>
            </a:r>
          </a:p>
        </p:txBody>
      </p:sp>
      <p:sp>
        <p:nvSpPr>
          <p:cNvPr id="100063" name="TextBox 20"/>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064" name="TextBox 21"/>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5</a:t>
            </a:r>
          </a:p>
        </p:txBody>
      </p:sp>
    </p:spTree>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65"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Công nghệ sử dụng</a:t>
            </a:r>
          </a:p>
        </p:txBody>
      </p:sp>
      <p:sp>
        <p:nvSpPr>
          <p:cNvPr id="100066"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graphicFrame>
        <p:nvGraphicFramePr>
          <p:cNvPr id="100067" name="Table 1"/>
          <p:cNvGraphicFramePr/>
          <p:nvPr/>
        </p:nvGraphicFramePr>
        <p:xfrm>
          <a:off xmlns:a="http://schemas.openxmlformats.org/drawingml/2006/main" x="540000" y="1224000"/>
          <a:ext xmlns:a="http://schemas.openxmlformats.org/drawingml/2006/main" cx="8229600" cy="4788000"/>
        </p:xfrm>
        <a:graphic xmlns:a="http://schemas.openxmlformats.org/drawingml/2006/main">
          <a:graphicData uri="http://schemas.openxmlformats.org/drawingml/2006/table">
            <a:tbl>
              <a:tblPr firstRow="1" bandRow="1"/>
              <a:tblGrid>
                <a:gridCol w="1224000"/>
                <a:gridCol w="3816000"/>
                <a:gridCol w="2160000"/>
              </a:tblGrid>
              <a:tr h="684000">
                <a:tc>
                  <a:txBody>
                    <a:bodyPr/>
                    <a:lstStyle/>
                    <a:p>
                      <a:r>
                        <a:rPr lang="en-US" b="1">
                          <a:solidFill>
                            <a:srgbClr val="FFFFFF"/>
                          </a:solidFill>
                        </a:rPr>
                        <a:t>Phân hệ</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2563EB"/>
                    </a:solidFill>
                  </a:tcPr>
                </a:tc>
                <a:tc>
                  <a:txBody>
                    <a:bodyPr/>
                    <a:lstStyle/>
                    <a:p>
                      <a:r>
                        <a:rPr lang="en-US" b="1">
                          <a:solidFill>
                            <a:srgbClr val="FFFFFF"/>
                          </a:solidFill>
                        </a:rPr>
                        <a:t>Công nghệ</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2563EB"/>
                    </a:solidFill>
                  </a:tcPr>
                </a:tc>
                <a:tc>
                  <a:txBody>
                    <a:bodyPr/>
                    <a:lstStyle/>
                    <a:p>
                      <a:r>
                        <a:rPr lang="en-US" b="1">
                          <a:solidFill>
                            <a:srgbClr val="FFFFFF"/>
                          </a:solidFill>
                        </a:rPr>
                        <a:t>Vai trò</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2563EB"/>
                    </a:solidFill>
                  </a:tcPr>
                </a:tc>
              </a:tr>
              <a:tr h="684000">
                <a:tc>
                  <a:txBody>
                    <a:bodyPr/>
                    <a:lstStyle/>
                    <a:p>
                      <a:r>
                        <a:rPr lang="en-US"/>
                        <a:t>Frontend</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React 19, Vite 8, Tailwind 4, recharts, signalr-client</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Giao diện &amp; biểu đồ</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684000">
                <a:tc>
                  <a:txBody>
                    <a:bodyPr/>
                    <a:lstStyle/>
                    <a:p>
                      <a:r>
                        <a:rPr lang="en-US"/>
                        <a:t>Backend</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ASP.NET Core .NET 10, EF Core, SignalR, BCrypt</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REST API &amp; realtime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684000">
                <a:tc>
                  <a:txBody>
                    <a:bodyPr/>
                    <a:lstStyle/>
                    <a:p>
                      <a:r>
                        <a:rPr lang="en-US"/>
                        <a:t>Database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Azure SQL Server</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Lưu trữ dữ liệu</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684000">
                <a:tc>
                  <a:txBody>
                    <a:bodyPr/>
                    <a:lstStyle/>
                    <a:p>
                      <a:r>
                        <a:rPr lang="en-US"/>
                        <a:t>Xác thực</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Clerk (OAuth, email)</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Đăng ký / đăng nhập</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684000">
                <a:tc>
                  <a:txBody>
                    <a:bodyPr/>
                    <a:lstStyle/>
                    <a:p>
                      <a:r>
                        <a:rPr lang="en-US"/>
                        <a:t>Kiểm thử</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xUnit (backend)</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Unit test</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684000">
                <a:tc>
                  <a:txBody>
                    <a:bodyPr/>
                    <a:lstStyle/>
                    <a:p>
                      <a:r>
                        <a:rPr lang="en-US"/>
                        <a:t>Triển khai</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GitHub, Vercel, Azure App Service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CI/CD &amp; hosting</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bl>
          </a:graphicData>
        </a:graphic>
      </p:graphicFrame>
      <p:sp>
        <p:nvSpPr>
          <p:cNvPr id="100068" name="TextBox 3"/>
          <p:cNvSpPr txBox="1"/>
          <p:nvPr/>
        </p:nvSpPr>
        <p:spPr>
          <a:xfrm xmlns:a="http://schemas.openxmlformats.org/drawingml/2006/main">
            <a:off x="540000" y="6156000"/>
            <a:ext cx="1116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64748B"/>
                </a:solidFill>
                <a:latin typeface="Segoe UI"/>
                <a:ea typeface="Segoe UI"/>
              </a:rPr>
              <a:t>Frontend chạy port 5173 (proxy /api → backend), backend chạy port 5000, dữ liệu trên Azure SQL.</a:t>
            </a:r>
          </a:p>
        </p:txBody>
      </p:sp>
      <p:sp>
        <p:nvSpPr>
          <p:cNvPr id="100069" name="TextBox 4"/>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070" name="TextBox 5"/>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6</a:t>
            </a:r>
          </a:p>
        </p:txBody>
      </p:sp>
    </p:spTree>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71"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Sơ đồ cơ sở dữ liệu (20 bảng)</a:t>
            </a:r>
          </a:p>
        </p:txBody>
      </p:sp>
      <p:sp>
        <p:nvSpPr>
          <p:cNvPr id="100072"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73" name="TextBox 3"/>
          <p:cNvSpPr/>
          <p:nvPr/>
        </p:nvSpPr>
        <p:spPr>
          <a:xfrm xmlns:a="http://schemas.openxmlformats.org/drawingml/2006/main">
            <a:off x="540000" y="1224000"/>
            <a:ext cx="3600000" cy="158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74" name="TextBox 4"/>
          <p:cNvSpPr txBox="1"/>
          <p:nvPr/>
        </p:nvSpPr>
        <p:spPr>
          <a:xfrm xmlns:a="http://schemas.openxmlformats.org/drawingml/2006/main">
            <a:off x="684000" y="1332000"/>
            <a:ext cx="3312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Người dùng &amp; xác thực</a:t>
            </a:r>
          </a:p>
        </p:txBody>
      </p:sp>
      <p:sp>
        <p:nvSpPr>
          <p:cNvPr id="100075" name="TextBox 5"/>
          <p:cNvSpPr txBox="1"/>
          <p:nvPr/>
        </p:nvSpPr>
        <p:spPr>
          <a:xfrm xmlns:a="http://schemas.openxmlformats.org/drawingml/2006/main">
            <a:off x="684000" y="1692000"/>
            <a:ext cx="3312000" cy="104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Users</a:t>
            </a:r>
          </a:p>
          <a:p xmlns:a="http://schemas.openxmlformats.org/drawingml/2006/main">
            <a:r>
              <a:rPr lang="en-US" sz="1200" b="0">
                <a:solidFill>
                  <a:srgbClr val="1E293B"/>
                </a:solidFill>
                <a:latin typeface="Segoe UI"/>
                <a:ea typeface="Segoe UI"/>
              </a:rPr>
              <a:t>• Notifications</a:t>
            </a:r>
          </a:p>
          <a:p xmlns:a="http://schemas.openxmlformats.org/drawingml/2006/main">
            <a:r>
              <a:rPr lang="en-US" sz="1200" b="0">
                <a:solidFill>
                  <a:srgbClr val="1E293B"/>
                </a:solidFill>
                <a:latin typeface="Segoe UI"/>
                <a:ea typeface="Segoe UI"/>
              </a:rPr>
              <a:t>• LuckyWheelSpins</a:t>
            </a:r>
          </a:p>
        </p:txBody>
      </p:sp>
      <p:sp>
        <p:nvSpPr>
          <p:cNvPr id="100076" name="TextBox 6"/>
          <p:cNvSpPr/>
          <p:nvPr/>
        </p:nvSpPr>
        <p:spPr>
          <a:xfrm xmlns:a="http://schemas.openxmlformats.org/drawingml/2006/main">
            <a:off x="4428000" y="1224000"/>
            <a:ext cx="3600000" cy="158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77" name="TextBox 7"/>
          <p:cNvSpPr txBox="1"/>
          <p:nvPr/>
        </p:nvSpPr>
        <p:spPr>
          <a:xfrm xmlns:a="http://schemas.openxmlformats.org/drawingml/2006/main">
            <a:off x="4572000" y="1332000"/>
            <a:ext cx="3312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Phương tiện &amp; giá</a:t>
            </a:r>
          </a:p>
        </p:txBody>
      </p:sp>
      <p:sp>
        <p:nvSpPr>
          <p:cNvPr id="100078" name="TextBox 8"/>
          <p:cNvSpPr txBox="1"/>
          <p:nvPr/>
        </p:nvSpPr>
        <p:spPr>
          <a:xfrm xmlns:a="http://schemas.openxmlformats.org/drawingml/2006/main">
            <a:off x="4572000" y="1692000"/>
            <a:ext cx="3312000" cy="104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Flights • Trains • Buses</a:t>
            </a:r>
          </a:p>
          <a:p xmlns:a="http://schemas.openxmlformats.org/drawingml/2006/main">
            <a:r>
              <a:rPr lang="en-US" sz="1200" b="0">
                <a:solidFill>
                  <a:srgbClr val="1E293B"/>
                </a:solidFill>
                <a:latin typeface="Segoe UI"/>
                <a:ea typeface="Segoe UI"/>
              </a:rPr>
              <a:t>• PriceHistories</a:t>
            </a:r>
          </a:p>
          <a:p xmlns:a="http://schemas.openxmlformats.org/drawingml/2006/main">
            <a:r>
              <a:rPr lang="en-US" sz="1200" b="0">
                <a:solidFill>
                  <a:srgbClr val="1E293B"/>
                </a:solidFill>
                <a:latin typeface="Segoe UI"/>
                <a:ea typeface="Segoe UI"/>
              </a:rPr>
              <a:t>• PriceConfigs</a:t>
            </a:r>
          </a:p>
        </p:txBody>
      </p:sp>
      <p:sp>
        <p:nvSpPr>
          <p:cNvPr id="100079" name="TextBox 9"/>
          <p:cNvSpPr/>
          <p:nvPr/>
        </p:nvSpPr>
        <p:spPr>
          <a:xfrm xmlns:a="http://schemas.openxmlformats.org/drawingml/2006/main">
            <a:off x="8316000" y="1224000"/>
            <a:ext cx="3348000" cy="158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80" name="TextBox 10"/>
          <p:cNvSpPr txBox="1"/>
          <p:nvPr/>
        </p:nvSpPr>
        <p:spPr>
          <a:xfrm xmlns:a="http://schemas.openxmlformats.org/drawingml/2006/main">
            <a:off x="8460000" y="1332000"/>
            <a:ext cx="30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Đặt vé</a:t>
            </a:r>
          </a:p>
        </p:txBody>
      </p:sp>
      <p:sp>
        <p:nvSpPr>
          <p:cNvPr id="100081" name="TextBox 11"/>
          <p:cNvSpPr txBox="1"/>
          <p:nvPr/>
        </p:nvSpPr>
        <p:spPr>
          <a:xfrm xmlns:a="http://schemas.openxmlformats.org/drawingml/2006/main">
            <a:off x="8460000" y="1692000"/>
            <a:ext cx="3060000" cy="104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Bookings</a:t>
            </a:r>
          </a:p>
          <a:p xmlns:a="http://schemas.openxmlformats.org/drawingml/2006/main">
            <a:r>
              <a:rPr lang="en-US" sz="1200" b="0">
                <a:solidFill>
                  <a:srgbClr val="1E293B"/>
                </a:solidFill>
                <a:latin typeface="Segoe UI"/>
                <a:ea typeface="Segoe UI"/>
              </a:rPr>
              <a:t>• BookingSegments</a:t>
            </a:r>
          </a:p>
          <a:p xmlns:a="http://schemas.openxmlformats.org/drawingml/2006/main">
            <a:r>
              <a:rPr lang="en-US" sz="1200" b="0">
                <a:solidFill>
                  <a:srgbClr val="1E293B"/>
                </a:solidFill>
                <a:latin typeface="Segoe UI"/>
                <a:ea typeface="Segoe UI"/>
              </a:rPr>
              <a:t>• BookingPassengers</a:t>
            </a:r>
          </a:p>
          <a:p xmlns:a="http://schemas.openxmlformats.org/drawingml/2006/main">
            <a:r>
              <a:rPr lang="en-US" sz="1200" b="0">
                <a:solidFill>
                  <a:srgbClr val="1E293B"/>
                </a:solidFill>
                <a:latin typeface="Segoe UI"/>
                <a:ea typeface="Segoe UI"/>
              </a:rPr>
              <a:t>• BookingInsurances</a:t>
            </a:r>
          </a:p>
        </p:txBody>
      </p:sp>
      <p:sp>
        <p:nvSpPr>
          <p:cNvPr id="100082" name="TextBox 12"/>
          <p:cNvSpPr/>
          <p:nvPr/>
        </p:nvSpPr>
        <p:spPr>
          <a:xfrm xmlns:a="http://schemas.openxmlformats.org/drawingml/2006/main">
            <a:off x="540000" y="3024000"/>
            <a:ext cx="3600000" cy="158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83" name="TextBox 13"/>
          <p:cNvSpPr txBox="1"/>
          <p:nvPr/>
        </p:nvSpPr>
        <p:spPr>
          <a:xfrm xmlns:a="http://schemas.openxmlformats.org/drawingml/2006/main">
            <a:off x="684000" y="3132000"/>
            <a:ext cx="3312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Kinh doanh</a:t>
            </a:r>
          </a:p>
        </p:txBody>
      </p:sp>
      <p:sp>
        <p:nvSpPr>
          <p:cNvPr id="100084" name="TextBox 14"/>
          <p:cNvSpPr txBox="1"/>
          <p:nvPr/>
        </p:nvSpPr>
        <p:spPr>
          <a:xfrm xmlns:a="http://schemas.openxmlformats.org/drawingml/2006/main">
            <a:off x="684000" y="3492000"/>
            <a:ext cx="3312000" cy="104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PromoCodes</a:t>
            </a:r>
          </a:p>
          <a:p xmlns:a="http://schemas.openxmlformats.org/drawingml/2006/main">
            <a:r>
              <a:rPr lang="en-US" sz="1200" b="0">
                <a:solidFill>
                  <a:srgbClr val="1E293B"/>
                </a:solidFill>
                <a:latin typeface="Segoe UI"/>
                <a:ea typeface="Segoe UI"/>
              </a:rPr>
              <a:t>• SubscriptionPlans</a:t>
            </a:r>
          </a:p>
          <a:p xmlns:a="http://schemas.openxmlformats.org/drawingml/2006/main">
            <a:r>
              <a:rPr lang="en-US" sz="1200" b="0">
                <a:solidFill>
                  <a:srgbClr val="1E293B"/>
                </a:solidFill>
                <a:latin typeface="Segoe UI"/>
                <a:ea typeface="Segoe UI"/>
              </a:rPr>
              <a:t>• UserSubscriptions</a:t>
            </a:r>
          </a:p>
          <a:p xmlns:a="http://schemas.openxmlformats.org/drawingml/2006/main">
            <a:r>
              <a:rPr lang="en-US" sz="1200" b="0">
                <a:solidFill>
                  <a:srgbClr val="1E293B"/>
                </a:solidFill>
                <a:latin typeface="Segoe UI"/>
                <a:ea typeface="Segoe UI"/>
              </a:rPr>
              <a:t>• InsurancePackages</a:t>
            </a:r>
          </a:p>
        </p:txBody>
      </p:sp>
      <p:sp>
        <p:nvSpPr>
          <p:cNvPr id="100085" name="TextBox 15"/>
          <p:cNvSpPr/>
          <p:nvPr/>
        </p:nvSpPr>
        <p:spPr>
          <a:xfrm xmlns:a="http://schemas.openxmlformats.org/drawingml/2006/main">
            <a:off x="4428000" y="3024000"/>
            <a:ext cx="3600000" cy="158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86" name="TextBox 16"/>
          <p:cNvSpPr txBox="1"/>
          <p:nvPr/>
        </p:nvSpPr>
        <p:spPr>
          <a:xfrm xmlns:a="http://schemas.openxmlformats.org/drawingml/2006/main">
            <a:off x="4572000" y="3132000"/>
            <a:ext cx="3312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Cộng đồng &amp; cảnh báo</a:t>
            </a:r>
          </a:p>
        </p:txBody>
      </p:sp>
      <p:sp>
        <p:nvSpPr>
          <p:cNvPr id="100087" name="TextBox 17"/>
          <p:cNvSpPr txBox="1"/>
          <p:nvPr/>
        </p:nvSpPr>
        <p:spPr>
          <a:xfrm xmlns:a="http://schemas.openxmlformats.org/drawingml/2006/main">
            <a:off x="4572000" y="3492000"/>
            <a:ext cx="3312000" cy="104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 Reviews</a:t>
            </a:r>
          </a:p>
          <a:p xmlns:a="http://schemas.openxmlformats.org/drawingml/2006/main">
            <a:r>
              <a:rPr lang="en-US" sz="1200" b="0">
                <a:solidFill>
                  <a:srgbClr val="1E293B"/>
                </a:solidFill>
                <a:latin typeface="Segoe UI"/>
                <a:ea typeface="Segoe UI"/>
              </a:rPr>
              <a:t>• CommunityTips</a:t>
            </a:r>
          </a:p>
          <a:p xmlns:a="http://schemas.openxmlformats.org/drawingml/2006/main">
            <a:r>
              <a:rPr lang="en-US" sz="1200" b="0">
                <a:solidFill>
                  <a:srgbClr val="1E293B"/>
                </a:solidFill>
                <a:latin typeface="Segoe UI"/>
                <a:ea typeface="Segoe UI"/>
              </a:rPr>
              <a:t>• PriceAlerts</a:t>
            </a:r>
          </a:p>
        </p:txBody>
      </p:sp>
      <p:sp>
        <p:nvSpPr>
          <p:cNvPr id="100088" name="TextBox 18"/>
          <p:cNvSpPr/>
          <p:nvPr/>
        </p:nvSpPr>
        <p:spPr>
          <a:xfrm xmlns:a="http://schemas.openxmlformats.org/drawingml/2006/main">
            <a:off x="8316000" y="3024000"/>
            <a:ext cx="3348000" cy="158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089" name="TextBox 19"/>
          <p:cNvSpPr txBox="1"/>
          <p:nvPr/>
        </p:nvSpPr>
        <p:spPr>
          <a:xfrm xmlns:a="http://schemas.openxmlformats.org/drawingml/2006/main">
            <a:off x="8460000" y="3132000"/>
            <a:ext cx="30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Liên kết chính</a:t>
            </a:r>
          </a:p>
        </p:txBody>
      </p:sp>
      <p:sp>
        <p:nvSpPr>
          <p:cNvPr id="100090" name="TextBox 20"/>
          <p:cNvSpPr txBox="1"/>
          <p:nvPr/>
        </p:nvSpPr>
        <p:spPr>
          <a:xfrm xmlns:a="http://schemas.openxmlformats.org/drawingml/2006/main">
            <a:off x="8460000" y="3492000"/>
            <a:ext cx="3060000" cy="104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Bookings → Users</a:t>
            </a:r>
          </a:p>
          <a:p xmlns:a="http://schemas.openxmlformats.org/drawingml/2006/main">
            <a:r>
              <a:rPr lang="en-US" sz="1200" b="0">
                <a:solidFill>
                  <a:srgbClr val="1E293B"/>
                </a:solidFill>
                <a:latin typeface="Segoe UI"/>
                <a:ea typeface="Segoe UI"/>
              </a:rPr>
              <a:t>Bookings → Flights/Trains/Buses</a:t>
            </a:r>
          </a:p>
          <a:p xmlns:a="http://schemas.openxmlformats.org/drawingml/2006/main">
            <a:r>
              <a:rPr lang="en-US" sz="1200" b="0">
                <a:solidFill>
                  <a:srgbClr val="1E293B"/>
                </a:solidFill>
                <a:latin typeface="Segoe UI"/>
                <a:ea typeface="Segoe UI"/>
              </a:rPr>
              <a:t>BookingInsurances → Bookings</a:t>
            </a:r>
          </a:p>
        </p:txBody>
      </p:sp>
      <p:sp>
        <p:nvSpPr>
          <p:cNvPr id="100091" name="TextBox 21"/>
          <p:cNvSpPr txBox="1"/>
          <p:nvPr/>
        </p:nvSpPr>
        <p:spPr>
          <a:xfrm xmlns:a="http://schemas.openxmlformats.org/drawingml/2006/main">
            <a:off x="540000" y="4896000"/>
            <a:ext cx="1116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64748B"/>
                </a:solidFill>
                <a:latin typeface="Segoe UI"/>
                <a:ea typeface="Segoe UI"/>
              </a:rPr>
              <a:t>Schema được tạo tự động khi app khởi động (CREATE TABLE IF NOT EXISTS), seed chỉ chạy khi bảng rỗng.</a:t>
            </a:r>
          </a:p>
        </p:txBody>
      </p:sp>
      <p:sp>
        <p:nvSpPr>
          <p:cNvPr id="100092" name="TextBox 22"/>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093" name="TextBox 23"/>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7</a:t>
            </a:r>
          </a:p>
        </p:txBody>
      </p:sp>
    </p:spTree>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94"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Danh sách chức năng chính</a:t>
            </a:r>
          </a:p>
        </p:txBody>
      </p:sp>
      <p:sp>
        <p:nvSpPr>
          <p:cNvPr id="100095"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096" name="TextBox 3"/>
          <p:cNvSpPr txBox="1"/>
          <p:nvPr/>
        </p:nvSpPr>
        <p:spPr>
          <a:xfrm xmlns:a="http://schemas.openxmlformats.org/drawingml/2006/main">
            <a:off x="540000" y="1224000"/>
            <a:ext cx="558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Nhóm tra cứu &amp; gợi ý</a:t>
            </a:r>
          </a:p>
        </p:txBody>
      </p:sp>
      <p:sp>
        <p:nvSpPr>
          <p:cNvPr id="100097" name="TextBox 4"/>
          <p:cNvSpPr txBox="1"/>
          <p:nvPr/>
        </p:nvSpPr>
        <p:spPr>
          <a:xfrm xmlns:a="http://schemas.openxmlformats.org/drawingml/2006/main">
            <a:off x="540000" y="1620000"/>
            <a:ext cx="5580000" cy="30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1. Tra cứu vé máy bay / tàu / xe</a:t>
            </a:r>
          </a:p>
          <a:p xmlns:a="http://schemas.openxmlformats.org/drawingml/2006/main">
            <a:r>
              <a:rPr lang="en-US" sz="1200" b="0">
                <a:solidFill>
                  <a:srgbClr val="1E293B"/>
                </a:solidFill>
                <a:latin typeface="Segoe UI"/>
                <a:ea typeface="Segoe UI"/>
              </a:rPr>
              <a:t>   (lọc, sắp xếp, phân trang, khứ hồi)</a:t>
            </a:r>
          </a:p>
          <a:p xmlns:a="http://schemas.openxmlformats.org/drawingml/2006/main">
            <a:r>
              <a:rPr lang="en-US" sz="1200" b="0">
                <a:solidFill>
                  <a:srgbClr val="1E293B"/>
                </a:solidFill>
                <a:latin typeface="Segoe UI"/>
                <a:ea typeface="Segoe UI"/>
              </a:rPr>
              <a:t>2. So sánh giá 3 phương tiện + biểu đồ</a:t>
            </a:r>
          </a:p>
          <a:p xmlns:a="http://schemas.openxmlformats.org/drawingml/2006/main">
            <a:r>
              <a:rPr lang="en-US" sz="1200" b="0">
                <a:solidFill>
                  <a:srgbClr val="1E293B"/>
                </a:solidFill>
                <a:latin typeface="Segoe UI"/>
                <a:ea typeface="Segoe UI"/>
              </a:rPr>
              <a:t>   xu hướng, dự đoán giá, lịch giá</a:t>
            </a:r>
          </a:p>
          <a:p xmlns:a="http://schemas.openxmlformats.org/drawingml/2006/main">
            <a:r>
              <a:rPr lang="en-US" sz="1200" b="0">
                <a:solidFill>
                  <a:srgbClr val="1E293B"/>
                </a:solidFill>
                <a:latin typeface="Segoe UI"/>
                <a:ea typeface="Segoe UI"/>
              </a:rPr>
              <a:t>3. Gợi ý lộ trình tối ưu chi phí</a:t>
            </a:r>
          </a:p>
          <a:p xmlns:a="http://schemas.openxmlformats.org/drawingml/2006/main">
            <a:r>
              <a:rPr lang="en-US" sz="1200" b="0">
                <a:solidFill>
                  <a:srgbClr val="1E293B"/>
                </a:solidFill>
                <a:latin typeface="Segoe UI"/>
                <a:ea typeface="Segoe UI"/>
              </a:rPr>
              <a:t>4. Cảnh báo giá theo tuyến</a:t>
            </a:r>
          </a:p>
          <a:p xmlns:a="http://schemas.openxmlformats.org/drawingml/2006/main">
            <a:r>
              <a:rPr lang="en-US" sz="1200" b="0">
                <a:solidFill>
                  <a:srgbClr val="1E293B"/>
                </a:solidFill>
                <a:latin typeface="Segoe UI"/>
                <a:ea typeface="Segoe UI"/>
              </a:rPr>
              <a:t>5. Thời gian thực qua SignalR (mô phỏng)</a:t>
            </a:r>
          </a:p>
        </p:txBody>
      </p:sp>
      <p:sp>
        <p:nvSpPr>
          <p:cNvPr id="100098" name="TextBox 5"/>
          <p:cNvSpPr txBox="1"/>
          <p:nvPr/>
        </p:nvSpPr>
        <p:spPr>
          <a:xfrm xmlns:a="http://schemas.openxmlformats.org/drawingml/2006/main">
            <a:off x="540000" y="4824000"/>
            <a:ext cx="558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Nhóm giao dịch</a:t>
            </a:r>
          </a:p>
        </p:txBody>
      </p:sp>
      <p:sp>
        <p:nvSpPr>
          <p:cNvPr id="100099" name="TextBox 6"/>
          <p:cNvSpPr txBox="1"/>
          <p:nvPr/>
        </p:nvSpPr>
        <p:spPr>
          <a:xfrm xmlns:a="http://schemas.openxmlformats.org/drawingml/2006/main">
            <a:off x="540000" y="5220000"/>
            <a:ext cx="558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6. Đặt vé nhiều hành khách, bảo hiểm</a:t>
            </a:r>
          </a:p>
          <a:p xmlns:a="http://schemas.openxmlformats.org/drawingml/2006/main">
            <a:r>
              <a:rPr lang="en-US" sz="1200" b="0">
                <a:solidFill>
                  <a:srgbClr val="1E293B"/>
                </a:solidFill>
                <a:latin typeface="Segoe UI"/>
                <a:ea typeface="Segoe UI"/>
              </a:rPr>
              <a:t>7. Thanh toán đa cổng (VNPay, PayOS,</a:t>
            </a:r>
          </a:p>
          <a:p xmlns:a="http://schemas.openxmlformats.org/drawingml/2006/main">
            <a:r>
              <a:rPr lang="en-US" sz="1200" b="0">
                <a:solidFill>
                  <a:srgbClr val="1E293B"/>
                </a:solidFill>
                <a:latin typeface="Segoe UI"/>
                <a:ea typeface="Segoe UI"/>
              </a:rPr>
              <a:t>   MoMo, ZaloPay, VietQR)</a:t>
            </a:r>
          </a:p>
          <a:p xmlns:a="http://schemas.openxmlformats.org/drawingml/2006/main">
            <a:r>
              <a:rPr lang="en-US" sz="1200" b="0">
                <a:solidFill>
                  <a:srgbClr val="1E293B"/>
                </a:solidFill>
                <a:latin typeface="Segoe UI"/>
                <a:ea typeface="Segoe UI"/>
              </a:rPr>
              <a:t>8. Chuyển hướng đặt vé trang chính thức</a:t>
            </a:r>
          </a:p>
        </p:txBody>
      </p:sp>
      <p:sp>
        <p:nvSpPr>
          <p:cNvPr id="100100" name="TextBox 7"/>
          <p:cNvSpPr txBox="1"/>
          <p:nvPr/>
        </p:nvSpPr>
        <p:spPr>
          <a:xfrm xmlns:a="http://schemas.openxmlformats.org/drawingml/2006/main">
            <a:off x="6228000" y="1224000"/>
            <a:ext cx="540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Nhóm người dùng &amp; vận hành</a:t>
            </a:r>
          </a:p>
        </p:txBody>
      </p:sp>
      <p:sp>
        <p:nvSpPr>
          <p:cNvPr id="100101" name="TextBox 8"/>
          <p:cNvSpPr txBox="1"/>
          <p:nvPr/>
        </p:nvSpPr>
        <p:spPr>
          <a:xfrm xmlns:a="http://schemas.openxmlformats.org/drawingml/2006/main">
            <a:off x="6228000" y="1620000"/>
            <a:ext cx="5400000" cy="30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9. Xác thực Clerk (email + OAuth), hồ sơ</a:t>
            </a:r>
          </a:p>
          <a:p xmlns:a="http://schemas.openxmlformats.org/drawingml/2006/main">
            <a:r>
              <a:rPr lang="en-US" sz="1200" b="0">
                <a:solidFill>
                  <a:srgbClr val="1E293B"/>
                </a:solidFill>
                <a:latin typeface="Segoe UI"/>
                <a:ea typeface="Segoe UI"/>
              </a:rPr>
              <a:t>10. Khuyến mãi: mã giảm giá, gói VIP,</a:t>
            </a:r>
          </a:p>
          <a:p xmlns:a="http://schemas.openxmlformats.org/drawingml/2006/main">
            <a:r>
              <a:rPr lang="en-US" sz="1200" b="0">
                <a:solidFill>
                  <a:srgbClr val="1E293B"/>
                </a:solidFill>
                <a:latin typeface="Segoe UI"/>
                <a:ea typeface="Segoe UI"/>
              </a:rPr>
              <a:t>    vòng quay may mắn</a:t>
            </a:r>
          </a:p>
          <a:p xmlns:a="http://schemas.openxmlformats.org/drawingml/2006/main">
            <a:r>
              <a:rPr lang="en-US" sz="1200" b="0">
                <a:solidFill>
                  <a:srgbClr val="1E293B"/>
                </a:solidFill>
                <a:latin typeface="Segoe UI"/>
                <a:ea typeface="Segoe UI"/>
              </a:rPr>
              <a:t>11. Cộng đồng: đánh giá, mẹo đi lại,</a:t>
            </a:r>
          </a:p>
          <a:p xmlns:a="http://schemas.openxmlformats.org/drawingml/2006/main">
            <a:r>
              <a:rPr lang="en-US" sz="1200" b="0">
                <a:solidFill>
                  <a:srgbClr val="1E293B"/>
                </a:solidFill>
                <a:latin typeface="Segoe UI"/>
                <a:ea typeface="Segoe UI"/>
              </a:rPr>
              <a:t>    chatbot trợ lý, chỉ số carbon</a:t>
            </a:r>
          </a:p>
          <a:p xmlns:a="http://schemas.openxmlformats.org/drawingml/2006/main">
            <a:r>
              <a:rPr lang="en-US" sz="1200" b="0">
                <a:solidFill>
                  <a:srgbClr val="1E293B"/>
                </a:solidFill>
                <a:latin typeface="Segoe UI"/>
                <a:ea typeface="Segoe UI"/>
              </a:rPr>
              <a:t>12. Chia sẻ OG / link share, xuất lịch .ics</a:t>
            </a:r>
          </a:p>
        </p:txBody>
      </p:sp>
      <p:sp>
        <p:nvSpPr>
          <p:cNvPr id="100102" name="TextBox 9"/>
          <p:cNvSpPr txBox="1"/>
          <p:nvPr/>
        </p:nvSpPr>
        <p:spPr>
          <a:xfrm xmlns:a="http://schemas.openxmlformats.org/drawingml/2006/main">
            <a:off x="6228000" y="4824000"/>
            <a:ext cx="540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1E3D"/>
                </a:solidFill>
                <a:latin typeface="Segoe UI"/>
                <a:ea typeface="Segoe UI"/>
              </a:rPr>
              <a:t>Nhóm quản trị</a:t>
            </a:r>
          </a:p>
        </p:txBody>
      </p:sp>
      <p:sp>
        <p:nvSpPr>
          <p:cNvPr id="100103" name="TextBox 10"/>
          <p:cNvSpPr txBox="1"/>
          <p:nvPr/>
        </p:nvSpPr>
        <p:spPr>
          <a:xfrm xmlns:a="http://schemas.openxmlformats.org/drawingml/2006/main">
            <a:off x="6228000" y="5220000"/>
            <a:ext cx="54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13. Dashboard thống kê</a:t>
            </a:r>
          </a:p>
          <a:p xmlns:a="http://schemas.openxmlformats.org/drawingml/2006/main">
            <a:r>
              <a:rPr lang="en-US" sz="1200" b="0">
                <a:solidFill>
                  <a:srgbClr val="1E293B"/>
                </a:solidFill>
                <a:latin typeface="Segoe UI"/>
                <a:ea typeface="Segoe UI"/>
              </a:rPr>
              <a:t>14. Quản lý user, booking, chuyến đi</a:t>
            </a:r>
          </a:p>
          <a:p xmlns:a="http://schemas.openxmlformats.org/drawingml/2006/main">
            <a:r>
              <a:rPr lang="en-US" sz="1200" b="0">
                <a:solidFill>
                  <a:srgbClr val="1E293B"/>
                </a:solidFill>
                <a:latin typeface="Segoe UI"/>
                <a:ea typeface="Segoe UI"/>
              </a:rPr>
              <a:t>15. CRUD + import/export dữ liệu</a:t>
            </a:r>
          </a:p>
          <a:p xmlns:a="http://schemas.openxmlformats.org/drawingml/2006/main">
            <a:r>
              <a:rPr lang="en-US" sz="1200" b="0">
                <a:solidFill>
                  <a:srgbClr val="1E293B"/>
                </a:solidFill>
                <a:latin typeface="Segoe UI"/>
                <a:ea typeface="Segoe UI"/>
              </a:rPr>
              <a:t>16. Quản lý mã giảm giá, gói VIP, thông báo</a:t>
            </a:r>
          </a:p>
        </p:txBody>
      </p:sp>
      <p:sp>
        <p:nvSpPr>
          <p:cNvPr id="100104" name="TextBox 11"/>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105" name="TextBox 12"/>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8</a:t>
            </a:r>
          </a:p>
        </p:txBody>
      </p:sp>
    </p:spTree>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106"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Chức năng: tra cứu, lọc &amp; sắp xếp vé</a:t>
            </a:r>
          </a:p>
        </p:txBody>
      </p:sp>
      <p:sp>
        <p:nvSpPr>
          <p:cNvPr id="100107"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08" name="TextBox 3"/>
          <p:cNvSpPr txBox="1"/>
          <p:nvPr/>
        </p:nvSpPr>
        <p:spPr>
          <a:xfrm xmlns:a="http://schemas.openxmlformats.org/drawingml/2006/main">
            <a:off x="540000" y="1224000"/>
            <a:ext cx="558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Khả năng tra cứu</a:t>
            </a:r>
          </a:p>
        </p:txBody>
      </p:sp>
      <p:sp>
        <p:nvSpPr>
          <p:cNvPr id="100109" name="TextBox 4"/>
          <p:cNvSpPr txBox="1"/>
          <p:nvPr/>
        </p:nvSpPr>
        <p:spPr>
          <a:xfrm xmlns:a="http://schemas.openxmlformats.org/drawingml/2006/main">
            <a:off x="540000" y="1656000"/>
            <a:ext cx="558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1E293B"/>
                </a:solidFill>
                <a:latin typeface="Segoe UI"/>
                <a:ea typeface="Segoe UI"/>
              </a:rPr>
              <a:t>• 3 tab: Máy bay / Tàu hỏa / Xe khách</a:t>
            </a:r>
          </a:p>
          <a:p xmlns:a="http://schemas.openxmlformats.org/drawingml/2006/main">
            <a:r>
              <a:rPr lang="en-US" sz="1300" b="0">
                <a:solidFill>
                  <a:srgbClr val="1E293B"/>
                </a:solidFill>
                <a:latin typeface="Segoe UI"/>
                <a:ea typeface="Segoe UI"/>
              </a:rPr>
              <a:t>• Lọc theo: giá, hãng, giờ khởi hành,</a:t>
            </a:r>
          </a:p>
          <a:p xmlns:a="http://schemas.openxmlformats.org/drawingml/2006/main">
            <a:r>
              <a:rPr lang="en-US" sz="1300" b="0">
                <a:solidFill>
                  <a:srgbClr val="1E293B"/>
                </a:solidFill>
                <a:latin typeface="Segoe UI"/>
                <a:ea typeface="Segoe UI"/>
              </a:rPr>
              <a:t>  hạng ghế, số ghế còn lại</a:t>
            </a:r>
          </a:p>
          <a:p xmlns:a="http://schemas.openxmlformats.org/drawingml/2006/main">
            <a:r>
              <a:rPr lang="en-US" sz="1300" b="0">
                <a:solidFill>
                  <a:srgbClr val="1E293B"/>
                </a:solidFill>
                <a:latin typeface="Segoe UI"/>
                <a:ea typeface="Segoe UI"/>
              </a:rPr>
              <a:t>• Sắp xếp: giá tăng/giảm, thời gian bay</a:t>
            </a:r>
          </a:p>
          <a:p xmlns:a="http://schemas.openxmlformats.org/drawingml/2006/main">
            <a:r>
              <a:rPr lang="en-US" sz="1300" b="0">
                <a:solidFill>
                  <a:srgbClr val="1E293B"/>
                </a:solidFill>
                <a:latin typeface="Segoe UI"/>
                <a:ea typeface="Segoe UI"/>
              </a:rPr>
              <a:t>• Phân trang</a:t>
            </a:r>
          </a:p>
          <a:p xmlns:a="http://schemas.openxmlformats.org/drawingml/2006/main">
            <a:r>
              <a:rPr lang="en-US" sz="1300" b="0">
                <a:solidFill>
                  <a:srgbClr val="1E293B"/>
                </a:solidFill>
                <a:latin typeface="Segoe UI"/>
                <a:ea typeface="Segoe UI"/>
              </a:rPr>
              <a:t>• Vé khứ hồi (RoundTripGroupId)</a:t>
            </a:r>
          </a:p>
          <a:p xmlns:a="http://schemas.openxmlformats.org/drawingml/2006/main">
            <a:r>
              <a:rPr lang="en-US" sz="1300" b="0">
                <a:solidFill>
                  <a:srgbClr val="1E293B"/>
                </a:solidFill>
                <a:latin typeface="Segoe UI"/>
                <a:ea typeface="Segoe UI"/>
              </a:rPr>
              <a:t>• Đặt nhiều hành khách (1–9)</a:t>
            </a:r>
          </a:p>
          <a:p xmlns:a="http://schemas.openxmlformats.org/drawingml/2006/main">
            <a:r>
              <a:rPr lang="en-US" sz="1300" b="0">
                <a:solidFill>
                  <a:srgbClr val="1E293B"/>
                </a:solidFill>
                <a:latin typeface="Segoe UI"/>
                <a:ea typeface="Segoe UI"/>
              </a:rPr>
              <a:t>• Bảo hiểm chuyến đi theo từng vé</a:t>
            </a:r>
          </a:p>
        </p:txBody>
      </p:sp>
      <p:sp>
        <p:nvSpPr>
          <p:cNvPr id="100110" name="TextBox 5"/>
          <p:cNvSpPr/>
          <p:nvPr/>
        </p:nvSpPr>
        <p:spPr>
          <a:xfrm xmlns:a="http://schemas.openxmlformats.org/drawingml/2006/main">
            <a:off x="6480000" y="1224000"/>
            <a:ext cx="5184000" cy="38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11" name="TextBox 6"/>
          <p:cNvSpPr/>
          <p:nvPr/>
        </p:nvSpPr>
        <p:spPr>
          <a:xfrm xmlns:a="http://schemas.openxmlformats.org/drawingml/2006/main">
            <a:off x="6480000" y="1224000"/>
            <a:ext cx="5184000" cy="324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12" name="TextBox 7"/>
          <p:cNvSpPr txBox="1"/>
          <p:nvPr/>
        </p:nvSpPr>
        <p:spPr>
          <a:xfrm xmlns:a="http://schemas.openxmlformats.org/drawingml/2006/main">
            <a:off x="6624000" y="1296000"/>
            <a:ext cx="4896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Ví dụ: kết quả tìm kiếm</a:t>
            </a:r>
          </a:p>
        </p:txBody>
      </p:sp>
      <p:sp>
        <p:nvSpPr>
          <p:cNvPr id="100113" name="TextBox 8"/>
          <p:cNvSpPr txBox="1"/>
          <p:nvPr/>
        </p:nvSpPr>
        <p:spPr>
          <a:xfrm xmlns:a="http://schemas.openxmlformats.org/drawingml/2006/main">
            <a:off x="6624000" y="1692000"/>
            <a:ext cx="4896000" cy="31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1E293B"/>
                </a:solidFill>
                <a:latin typeface="Segoe UI"/>
                <a:ea typeface="Segoe UI"/>
              </a:rPr>
              <a:t>VJ 279  •  Vietnam Airlines</a:t>
            </a:r>
          </a:p>
          <a:p xmlns:a="http://schemas.openxmlformats.org/drawingml/2006/main">
            <a:r>
              <a:rPr lang="en-US" sz="1200" b="0">
                <a:solidFill>
                  <a:srgbClr val="1E293B"/>
                </a:solidFill>
                <a:latin typeface="Segoe UI"/>
                <a:ea typeface="Segoe UI"/>
              </a:rPr>
              <a:t>HAN → SGN</a:t>
            </a:r>
          </a:p>
          <a:p xmlns:a="http://schemas.openxmlformats.org/drawingml/2006/main">
            <a:r>
              <a:rPr lang="en-US" sz="1200" b="0">
                <a:solidFill>
                  <a:srgbClr val="1E293B"/>
                </a:solidFill>
                <a:latin typeface="Segoe UI"/>
                <a:ea typeface="Segoe UI"/>
              </a:rPr>
              <a:t>10:35 → 12:40 (2h05m)</a:t>
            </a:r>
          </a:p>
          <a:p xmlns:a="http://schemas.openxmlformats.org/drawingml/2006/main">
            <a:r>
              <a:rPr lang="en-US" sz="1200" b="0">
                <a:solidFill>
                  <a:srgbClr val="1E293B"/>
                </a:solidFill>
                <a:latin typeface="Segoe UI"/>
                <a:ea typeface="Segoe UI"/>
              </a:rPr>
              <a:t/>
            </a:r>
          </a:p>
          <a:p xmlns:a="http://schemas.openxmlformats.org/drawingml/2006/main">
            <a:r>
              <a:rPr lang="en-US" sz="1200" b="0">
                <a:solidFill>
                  <a:srgbClr val="1E293B"/>
                </a:solidFill>
                <a:latin typeface="Segoe UI"/>
                <a:ea typeface="Segoe UI"/>
              </a:rPr>
              <a:t>1.250.000đ  / vé</a:t>
            </a:r>
          </a:p>
          <a:p xmlns:a="http://schemas.openxmlformats.org/drawingml/2006/main">
            <a:r>
              <a:rPr lang="en-US" sz="1200" b="0">
                <a:solidFill>
                  <a:srgbClr val="1E293B"/>
                </a:solidFill>
                <a:latin typeface="Segoe UI"/>
                <a:ea typeface="Segoe UI"/>
              </a:rPr>
              <a:t>Hạng Phổ thông • còn 82 ghế</a:t>
            </a:r>
          </a:p>
          <a:p xmlns:a="http://schemas.openxmlformats.org/drawingml/2006/main">
            <a:r>
              <a:rPr lang="en-US" sz="1200" b="0">
                <a:solidFill>
                  <a:srgbClr val="1E293B"/>
                </a:solidFill>
                <a:latin typeface="Segoe UI"/>
                <a:ea typeface="Segoe UI"/>
              </a:rPr>
              <a:t/>
            </a:r>
          </a:p>
          <a:p xmlns:a="http://schemas.openxmlformats.org/drawingml/2006/main">
            <a:r>
              <a:rPr lang="en-US" sz="1200" b="0">
                <a:solidFill>
                  <a:srgbClr val="1E293B"/>
                </a:solidFill>
                <a:latin typeface="Segoe UI"/>
                <a:ea typeface="Segoe UI"/>
              </a:rPr>
              <a:t>[Đặt ngay]  [Chọn nơi đặt vé]</a:t>
            </a:r>
          </a:p>
        </p:txBody>
      </p:sp>
      <p:sp>
        <p:nvSpPr>
          <p:cNvPr id="100114" name="TextBox 9"/>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115" name="TextBox 10"/>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9</a:t>
            </a:r>
          </a:p>
        </p:txBody>
      </p:sp>
    </p:spTree>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116"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So sánh giá + biểu đồ xu hướng + thời gian thực</a:t>
            </a:r>
          </a:p>
        </p:txBody>
      </p:sp>
      <p:sp>
        <p:nvSpPr>
          <p:cNvPr id="100117"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graphicFrame>
        <p:nvGraphicFramePr>
          <p:cNvPr id="100118" name="Chart 1"/>
          <p:cNvGraphicFramePr/>
          <p:nvPr/>
        </p:nvGraphicFramePr>
        <p:xfrm>
          <a:off xmlns:a="http://schemas.openxmlformats.org/drawingml/2006/main" x="540000" y="1224000"/>
          <a:ext xmlns:a="http://schemas.openxmlformats.org/drawingml/2006/main" cx="6120000" cy="3960000"/>
        </p:xfrm>
        <a:graphic xmlns:a="http://schemas.openxmlformats.org/drawingml/2006/main">
          <a:graphicData uri="http://schemas.openxmlformats.org/drawingml/2006/chart">
            <c:chart xmlns:r="http://schemas.openxmlformats.org/officeDocument/2006/relationships" xmlns:c="http://schemas.openxmlformats.org/drawingml/2006/chart" r:id="Rabfab838a51f4333"/>
          </a:graphicData>
        </a:graphic>
      </p:graphicFrame>
      <p:sp>
        <p:nvSpPr>
          <p:cNvPr id="100119" name="TextBox 3"/>
          <p:cNvSpPr txBox="1"/>
          <p:nvPr/>
        </p:nvSpPr>
        <p:spPr>
          <a:xfrm xmlns:a="http://schemas.openxmlformats.org/drawingml/2006/main">
            <a:off x="7020000" y="1224000"/>
            <a:ext cx="4608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Tính năng</a:t>
            </a:r>
          </a:p>
        </p:txBody>
      </p:sp>
      <p:sp>
        <p:nvSpPr>
          <p:cNvPr id="100120" name="TextBox 4"/>
          <p:cNvSpPr txBox="1"/>
          <p:nvPr/>
        </p:nvSpPr>
        <p:spPr>
          <a:xfrm xmlns:a="http://schemas.openxmlformats.org/drawingml/2006/main">
            <a:off x="7020000" y="1656000"/>
            <a:ext cx="4608000" cy="316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So sánh cùng lúc 3 phương tiện trên</a:t>
            </a:r>
          </a:p>
          <a:p xmlns:a="http://schemas.openxmlformats.org/drawingml/2006/main">
            <a:r>
              <a:rPr lang="en-US" sz="1250" b="0">
                <a:solidFill>
                  <a:srgbClr val="1E293B"/>
                </a:solidFill>
                <a:latin typeface="Segoe UI"/>
                <a:ea typeface="Segoe UI"/>
              </a:rPr>
              <a:t>  cùng tuyến</a:t>
            </a:r>
          </a:p>
          <a:p xmlns:a="http://schemas.openxmlformats.org/drawingml/2006/main">
            <a:r>
              <a:rPr lang="en-US" sz="1250" b="0">
                <a:solidFill>
                  <a:srgbClr val="1E293B"/>
                </a:solidFill>
                <a:latin typeface="Segoe UI"/>
                <a:ea typeface="Segoe UI"/>
              </a:rPr>
              <a:t>• Biểu đồ xu hướng giá (recharts)</a:t>
            </a:r>
          </a:p>
          <a:p xmlns:a="http://schemas.openxmlformats.org/drawingml/2006/main">
            <a:r>
              <a:rPr lang="en-US" sz="1250" b="0">
                <a:solidFill>
                  <a:srgbClr val="1E293B"/>
                </a:solidFill>
                <a:latin typeface="Segoe UI"/>
                <a:ea typeface="Segoe UI"/>
              </a:rPr>
              <a:t>• Dự đoán giá theo tháng (/predict)</a:t>
            </a:r>
          </a:p>
          <a:p xmlns:a="http://schemas.openxmlformats.org/drawingml/2006/main">
            <a:r>
              <a:rPr lang="en-US" sz="1250" b="0">
                <a:solidFill>
                  <a:srgbClr val="1E293B"/>
                </a:solidFill>
                <a:latin typeface="Segoe UI"/>
                <a:ea typeface="Segoe UI"/>
              </a:rPr>
              <a:t>• Lịch giá theo ngày</a:t>
            </a:r>
          </a:p>
          <a:p xmlns:a="http://schemas.openxmlformats.org/drawingml/2006/main">
            <a:r>
              <a:rPr lang="en-US" sz="1250" b="0">
                <a:solidFill>
                  <a:srgbClr val="1E293B"/>
                </a:solidFill>
                <a:latin typeface="Segoe UI"/>
                <a:ea typeface="Segoe UI"/>
              </a:rPr>
              <a:t>• Gói Free: so sánh 1 hãng rẻ nhất</a:t>
            </a:r>
          </a:p>
          <a:p xmlns:a="http://schemas.openxmlformats.org/drawingml/2006/main">
            <a:r>
              <a:rPr lang="en-US" sz="1250" b="0">
                <a:solidFill>
                  <a:srgbClr val="1E293B"/>
                </a:solidFill>
                <a:latin typeface="Segoe UI"/>
                <a:ea typeface="Segoe UI"/>
              </a:rPr>
              <a:t>• Gói VIP: so sánh đủ hãng</a:t>
            </a:r>
          </a:p>
          <a:p xmlns:a="http://schemas.openxmlformats.org/drawingml/2006/main">
            <a:r>
              <a:rPr lang="en-US" sz="1250" b="0">
                <a:solidFill>
                  <a:srgbClr val="1E293B"/>
                </a:solidFill>
                <a:latin typeface="Segoe UI"/>
                <a:ea typeface="Segoe UI"/>
              </a:rPr>
              <a:t>• SignalR cập nhật giá mỗi 30s</a:t>
            </a:r>
          </a:p>
          <a:p xmlns:a="http://schemas.openxmlformats.org/drawingml/2006/main">
            <a:r>
              <a:rPr lang="en-US" sz="1250" b="0">
                <a:solidFill>
                  <a:srgbClr val="1E293B"/>
                </a:solidFill>
                <a:latin typeface="Segoe UI"/>
                <a:ea typeface="Segoe UI"/>
              </a:rPr>
              <a:t>• UI hiển thị chỉ báo “Thời gian thực”</a:t>
            </a:r>
          </a:p>
        </p:txBody>
      </p:sp>
      <p:sp>
        <p:nvSpPr>
          <p:cNvPr id="100121" name="TextBox 5"/>
          <p:cNvSpPr txBox="1"/>
          <p:nvPr/>
        </p:nvSpPr>
        <p:spPr>
          <a:xfrm xmlns:a="http://schemas.openxmlformats.org/drawingml/2006/main">
            <a:off x="540000" y="5400000"/>
            <a:ext cx="1116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64748B"/>
                </a:solidFill>
                <a:latin typeface="Segoe UI"/>
                <a:ea typeface="Segoe UI"/>
              </a:rPr>
              <a:t>Lưu ý trung thực: “thời gian thực” hiện là mô phỏng dao động giá trên dữ liệu mẫu, không phải API hãng thật.</a:t>
            </a:r>
          </a:p>
        </p:txBody>
      </p:sp>
      <p:sp>
        <p:nvSpPr>
          <p:cNvPr id="100122" name="TextBox 6"/>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123" name="TextBox 7"/>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10</a:t>
            </a:r>
          </a:p>
        </p:txBody>
      </p:sp>
    </p:spTree>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124"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Gợi ý lộ trình tối ưu chi phí</a:t>
            </a:r>
          </a:p>
        </p:txBody>
      </p:sp>
      <p:sp>
        <p:nvSpPr>
          <p:cNvPr id="100125"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26" name="TextBox 3"/>
          <p:cNvSpPr/>
          <p:nvPr/>
        </p:nvSpPr>
        <p:spPr>
          <a:xfrm xmlns:a="http://schemas.openxmlformats.org/drawingml/2006/main">
            <a:off x="540000" y="1224000"/>
            <a:ext cx="11160000" cy="108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27" name="TextBox 4"/>
          <p:cNvSpPr txBox="1"/>
          <p:nvPr/>
        </p:nvSpPr>
        <p:spPr>
          <a:xfrm xmlns:a="http://schemas.openxmlformats.org/drawingml/2006/main">
            <a:off x="756000" y="1368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1E3D"/>
                </a:solidFill>
                <a:latin typeface="Segoe UI"/>
                <a:ea typeface="Segoe UI"/>
              </a:rPr>
              <a:t>Tuyến ví dụ: Hà Nội (HAN) → TP. Hồ Chí Minh (SGN)</a:t>
            </a:r>
          </a:p>
        </p:txBody>
      </p:sp>
      <p:sp>
        <p:nvSpPr>
          <p:cNvPr id="100128" name="TextBox 5"/>
          <p:cNvSpPr txBox="1"/>
          <p:nvPr/>
        </p:nvSpPr>
        <p:spPr>
          <a:xfrm xmlns:a="http://schemas.openxmlformats.org/drawingml/2006/main">
            <a:off x="756000" y="1800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Thuật toán gợi ý lộ trình kết hợp nhiều phương tiện theo nhu cầu người dùng.</a:t>
            </a:r>
          </a:p>
        </p:txBody>
      </p:sp>
      <p:sp>
        <p:nvSpPr>
          <p:cNvPr id="100129" name="TextBox 6"/>
          <p:cNvSpPr/>
          <p:nvPr/>
        </p:nvSpPr>
        <p:spPr>
          <a:xfrm xmlns:a="http://schemas.openxmlformats.org/drawingml/2006/main">
            <a:off x="540000" y="2520000"/>
            <a:ext cx="3492000" cy="273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30" name="TextBox 7"/>
          <p:cNvSpPr/>
          <p:nvPr/>
        </p:nvSpPr>
        <p:spPr>
          <a:xfrm xmlns:a="http://schemas.openxmlformats.org/drawingml/2006/main">
            <a:off x="540000" y="2520000"/>
            <a:ext cx="3492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31" name="TextBox 8"/>
          <p:cNvSpPr txBox="1"/>
          <p:nvPr/>
        </p:nvSpPr>
        <p:spPr>
          <a:xfrm xmlns:a="http://schemas.openxmlformats.org/drawingml/2006/main">
            <a:off x="684000" y="2592000"/>
            <a:ext cx="3204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1 chặng — Máy bay</a:t>
            </a:r>
          </a:p>
        </p:txBody>
      </p:sp>
      <p:sp>
        <p:nvSpPr>
          <p:cNvPr id="100132" name="TextBox 9"/>
          <p:cNvSpPr txBox="1"/>
          <p:nvPr/>
        </p:nvSpPr>
        <p:spPr>
          <a:xfrm xmlns:a="http://schemas.openxmlformats.org/drawingml/2006/main">
            <a:off x="684000" y="3096000"/>
            <a:ext cx="3204000" cy="20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VietJet Air</a:t>
            </a:r>
          </a:p>
          <a:p xmlns:a="http://schemas.openxmlformats.org/drawingml/2006/main">
            <a:r>
              <a:rPr lang="en-US" sz="1250" b="0">
                <a:solidFill>
                  <a:srgbClr val="1E293B"/>
                </a:solidFill>
                <a:latin typeface="Segoe UI"/>
                <a:ea typeface="Segoe UI"/>
              </a:rPr>
              <a:t>HAN → SGN</a:t>
            </a:r>
          </a:p>
          <a:p xmlns:a="http://schemas.openxmlformats.org/drawingml/2006/main">
            <a:r>
              <a:rPr lang="en-US" sz="1250" b="0">
                <a:solidFill>
                  <a:srgbClr val="1E293B"/>
                </a:solidFill>
                <a:latin typeface="Segoe UI"/>
                <a:ea typeface="Segoe UI"/>
              </a:rPr>
              <a:t>10:35 → 12:40</a:t>
            </a:r>
          </a:p>
          <a:p xmlns:a="http://schemas.openxmlformats.org/drawingml/2006/main">
            <a:r>
              <a:rPr lang="en-US" sz="1250" b="0">
                <a:solidFill>
                  <a:srgbClr val="1E293B"/>
                </a:solidFill>
                <a:latin typeface="Segoe UI"/>
                <a:ea typeface="Segoe UI"/>
              </a:rPr>
              <a:t>1.250.000đ • 2h05m</a:t>
            </a:r>
          </a:p>
        </p:txBody>
      </p:sp>
      <p:sp>
        <p:nvSpPr>
          <p:cNvPr id="100133" name="TextBox 10"/>
          <p:cNvSpPr txBox="1"/>
          <p:nvPr/>
        </p:nvSpPr>
        <p:spPr>
          <a:xfrm xmlns:a="http://schemas.openxmlformats.org/drawingml/2006/main">
            <a:off x="684000" y="4752000"/>
            <a:ext cx="3204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06B6D4"/>
                </a:solidFill>
                <a:latin typeface="Segoe UI"/>
                <a:ea typeface="Segoe UI"/>
              </a:rPr>
              <a:t>Nhanh nhất</a:t>
            </a:r>
          </a:p>
        </p:txBody>
      </p:sp>
      <p:sp>
        <p:nvSpPr>
          <p:cNvPr id="100134" name="TextBox 11"/>
          <p:cNvSpPr/>
          <p:nvPr/>
        </p:nvSpPr>
        <p:spPr>
          <a:xfrm xmlns:a="http://schemas.openxmlformats.org/drawingml/2006/main">
            <a:off x="4320000" y="2520000"/>
            <a:ext cx="3492000" cy="273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35" name="TextBox 12"/>
          <p:cNvSpPr/>
          <p:nvPr/>
        </p:nvSpPr>
        <p:spPr>
          <a:xfrm xmlns:a="http://schemas.openxmlformats.org/drawingml/2006/main">
            <a:off x="4320000" y="2520000"/>
            <a:ext cx="3492000" cy="432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36" name="TextBox 13"/>
          <p:cNvSpPr txBox="1"/>
          <p:nvPr/>
        </p:nvSpPr>
        <p:spPr>
          <a:xfrm xmlns:a="http://schemas.openxmlformats.org/drawingml/2006/main">
            <a:off x="4464000" y="2592000"/>
            <a:ext cx="3204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2 chặng — qua hub</a:t>
            </a:r>
          </a:p>
        </p:txBody>
      </p:sp>
      <p:sp>
        <p:nvSpPr>
          <p:cNvPr id="100137" name="TextBox 14"/>
          <p:cNvSpPr txBox="1"/>
          <p:nvPr/>
        </p:nvSpPr>
        <p:spPr>
          <a:xfrm xmlns:a="http://schemas.openxmlformats.org/drawingml/2006/main">
            <a:off x="4464000" y="3096000"/>
            <a:ext cx="3204000" cy="20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Bay HAN → Đà Nẵng</a:t>
            </a:r>
          </a:p>
          <a:p xmlns:a="http://schemas.openxmlformats.org/drawingml/2006/main">
            <a:r>
              <a:rPr lang="en-US" sz="1250" b="0">
                <a:solidFill>
                  <a:srgbClr val="1E293B"/>
                </a:solidFill>
                <a:latin typeface="Segoe UI"/>
                <a:ea typeface="Segoe UI"/>
              </a:rPr>
              <a:t>Tàu Đà Nẵng → SGN</a:t>
            </a:r>
          </a:p>
          <a:p xmlns:a="http://schemas.openxmlformats.org/drawingml/2006/main">
            <a:r>
              <a:rPr lang="en-US" sz="1250" b="0">
                <a:solidFill>
                  <a:srgbClr val="1E293B"/>
                </a:solidFill>
                <a:latin typeface="Segoe UI"/>
                <a:ea typeface="Segoe UI"/>
              </a:rPr>
              <a:t>1.050.000đ • 6h10m</a:t>
            </a:r>
          </a:p>
        </p:txBody>
      </p:sp>
      <p:sp>
        <p:nvSpPr>
          <p:cNvPr id="100138" name="TextBox 15"/>
          <p:cNvSpPr txBox="1"/>
          <p:nvPr/>
        </p:nvSpPr>
        <p:spPr>
          <a:xfrm xmlns:a="http://schemas.openxmlformats.org/drawingml/2006/main">
            <a:off x="4464000" y="4752000"/>
            <a:ext cx="3204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06B6D4"/>
                </a:solidFill>
                <a:latin typeface="Segoe UI"/>
                <a:ea typeface="Segoe UI"/>
              </a:rPr>
              <a:t>Tiết kiệm nhất</a:t>
            </a:r>
          </a:p>
        </p:txBody>
      </p:sp>
      <p:sp>
        <p:nvSpPr>
          <p:cNvPr id="100139" name="TextBox 16"/>
          <p:cNvSpPr/>
          <p:nvPr/>
        </p:nvSpPr>
        <p:spPr>
          <a:xfrm xmlns:a="http://schemas.openxmlformats.org/drawingml/2006/main">
            <a:off x="8100000" y="2520000"/>
            <a:ext cx="3564000" cy="273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40" name="TextBox 17"/>
          <p:cNvSpPr/>
          <p:nvPr/>
        </p:nvSpPr>
        <p:spPr>
          <a:xfrm xmlns:a="http://schemas.openxmlformats.org/drawingml/2006/main">
            <a:off x="8100000" y="2520000"/>
            <a:ext cx="3564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41" name="TextBox 18"/>
          <p:cNvSpPr txBox="1"/>
          <p:nvPr/>
        </p:nvSpPr>
        <p:spPr>
          <a:xfrm xmlns:a="http://schemas.openxmlformats.org/drawingml/2006/main">
            <a:off x="8244000" y="2592000"/>
            <a:ext cx="3276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1 chặng — Tàu hỏa</a:t>
            </a:r>
          </a:p>
        </p:txBody>
      </p:sp>
      <p:sp>
        <p:nvSpPr>
          <p:cNvPr id="100142" name="TextBox 19"/>
          <p:cNvSpPr txBox="1"/>
          <p:nvPr/>
        </p:nvSpPr>
        <p:spPr>
          <a:xfrm xmlns:a="http://schemas.openxmlformats.org/drawingml/2006/main">
            <a:off x="8244000" y="3096000"/>
            <a:ext cx="3276000" cy="20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SE1  •  Đường sắt VN</a:t>
            </a:r>
          </a:p>
          <a:p xmlns:a="http://schemas.openxmlformats.org/drawingml/2006/main">
            <a:r>
              <a:rPr lang="en-US" sz="1250" b="0">
                <a:solidFill>
                  <a:srgbClr val="1E293B"/>
                </a:solidFill>
                <a:latin typeface="Segoe UI"/>
                <a:ea typeface="Segoe UI"/>
              </a:rPr>
              <a:t>HAN → SGN</a:t>
            </a:r>
          </a:p>
          <a:p xmlns:a="http://schemas.openxmlformats.org/drawingml/2006/main">
            <a:r>
              <a:rPr lang="en-US" sz="1250" b="0">
                <a:solidFill>
                  <a:srgbClr val="1E293B"/>
                </a:solidFill>
                <a:latin typeface="Segoe UI"/>
                <a:ea typeface="Segoe UI"/>
              </a:rPr>
              <a:t>20:00 → 05:30 (+2)</a:t>
            </a:r>
          </a:p>
          <a:p xmlns:a="http://schemas.openxmlformats.org/drawingml/2006/main">
            <a:r>
              <a:rPr lang="en-US" sz="1250" b="0">
                <a:solidFill>
                  <a:srgbClr val="1E293B"/>
                </a:solidFill>
                <a:latin typeface="Segoe UI"/>
                <a:ea typeface="Segoe UI"/>
              </a:rPr>
              <a:t>890.000đ • 33h30m</a:t>
            </a:r>
          </a:p>
        </p:txBody>
      </p:sp>
      <p:sp>
        <p:nvSpPr>
          <p:cNvPr id="100143" name="TextBox 20"/>
          <p:cNvSpPr txBox="1"/>
          <p:nvPr/>
        </p:nvSpPr>
        <p:spPr>
          <a:xfrm xmlns:a="http://schemas.openxmlformats.org/drawingml/2006/main">
            <a:off x="8244000" y="4752000"/>
            <a:ext cx="3204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06B6D4"/>
                </a:solidFill>
                <a:latin typeface="Segoe UI"/>
                <a:ea typeface="Segoe UI"/>
              </a:rPr>
              <a:t>Rẻ nhất</a:t>
            </a:r>
          </a:p>
        </p:txBody>
      </p:sp>
      <p:sp>
        <p:nvSpPr>
          <p:cNvPr id="100144" name="TextBox 21"/>
          <p:cNvSpPr txBox="1"/>
          <p:nvPr/>
        </p:nvSpPr>
        <p:spPr>
          <a:xfrm xmlns:a="http://schemas.openxmlformats.org/drawingml/2006/main">
            <a:off x="540000" y="5472000"/>
            <a:ext cx="11160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64748B"/>
                </a:solidFill>
                <a:latin typeface="Segoe UI"/>
                <a:ea typeface="Segoe UI"/>
              </a:rPr>
              <a:t>Sắp xếp theo: rẻ nhất • nhanh nhất • ít trung chuyển • đến sớm nhất. Kết quả dựa trên dữ liệu mẫu.</a:t>
            </a:r>
          </a:p>
        </p:txBody>
      </p:sp>
      <p:sp>
        <p:nvSpPr>
          <p:cNvPr id="100145" name="TextBox 22"/>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146" name="TextBox 23"/>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11</a:t>
            </a:r>
          </a:p>
        </p:txBody>
      </p:sp>
    </p:spTree>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147"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Đặt vé &amp; chuyển hướng trang đặt chính thức</a:t>
            </a:r>
          </a:p>
        </p:txBody>
      </p:sp>
      <p:sp>
        <p:nvSpPr>
          <p:cNvPr id="100148"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49" name="TextBox 3"/>
          <p:cNvSpPr/>
          <p:nvPr/>
        </p:nvSpPr>
        <p:spPr>
          <a:xfrm xmlns:a="http://schemas.openxmlformats.org/drawingml/2006/main">
            <a:off x="540000" y="1224000"/>
            <a:ext cx="540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50" name="TextBox 4"/>
          <p:cNvSpPr/>
          <p:nvPr/>
        </p:nvSpPr>
        <p:spPr>
          <a:xfrm xmlns:a="http://schemas.openxmlformats.org/drawingml/2006/main">
            <a:off x="540000" y="1224000"/>
            <a:ext cx="5400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51" name="TextBox 5"/>
          <p:cNvSpPr txBox="1"/>
          <p:nvPr/>
        </p:nvSpPr>
        <p:spPr>
          <a:xfrm xmlns:a="http://schemas.openxmlformats.org/drawingml/2006/main">
            <a:off x="684000" y="1296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Đặt trực tiếp tại Vé247</a:t>
            </a:r>
          </a:p>
        </p:txBody>
      </p:sp>
      <p:sp>
        <p:nvSpPr>
          <p:cNvPr id="100152" name="TextBox 6"/>
          <p:cNvSpPr txBox="1"/>
          <p:nvPr/>
        </p:nvSpPr>
        <p:spPr>
          <a:xfrm xmlns:a="http://schemas.openxmlformats.org/drawingml/2006/main">
            <a:off x="684000" y="1764000"/>
            <a:ext cx="504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Chọn số hành khách (1–9), nhập thông</a:t>
            </a:r>
          </a:p>
          <a:p xmlns:a="http://schemas.openxmlformats.org/drawingml/2006/main">
            <a:r>
              <a:rPr lang="en-US" sz="1250" b="0">
                <a:solidFill>
                  <a:srgbClr val="1E293B"/>
                </a:solidFill>
                <a:latin typeface="Segoe UI"/>
                <a:ea typeface="Segoe UI"/>
              </a:rPr>
              <a:t>  tin từng người (tên, ngày sinh, CMND)</a:t>
            </a:r>
          </a:p>
          <a:p xmlns:a="http://schemas.openxmlformats.org/drawingml/2006/main">
            <a:r>
              <a:rPr lang="en-US" sz="1250" b="0">
                <a:solidFill>
                  <a:srgbClr val="1E293B"/>
                </a:solidFill>
                <a:latin typeface="Segoe UI"/>
                <a:ea typeface="Segoe UI"/>
              </a:rPr>
              <a:t>• Chọn bảo hiểm chuyến đi theo từng vé</a:t>
            </a:r>
          </a:p>
          <a:p xmlns:a="http://schemas.openxmlformats.org/drawingml/2006/main">
            <a:r>
              <a:rPr lang="en-US" sz="1250" b="0">
                <a:solidFill>
                  <a:srgbClr val="1E293B"/>
                </a:solidFill>
                <a:latin typeface="Segoe UI"/>
                <a:ea typeface="Segoe UI"/>
              </a:rPr>
              <a:t>• Tổng tiền = (giá vé + bảo hiểm) × số vé</a:t>
            </a:r>
          </a:p>
          <a:p xmlns:a="http://schemas.openxmlformats.org/drawingml/2006/main">
            <a:r>
              <a:rPr lang="en-US" sz="1250" b="0">
                <a:solidFill>
                  <a:srgbClr val="1E293B"/>
                </a:solidFill>
                <a:latin typeface="Segoe UI"/>
                <a:ea typeface="Segoe UI"/>
              </a:rPr>
              <a:t>• Thanh toán đa cổng</a:t>
            </a:r>
          </a:p>
          <a:p xmlns:a="http://schemas.openxmlformats.org/drawingml/2006/main">
            <a:r>
              <a:rPr lang="en-US" sz="1250" b="0">
                <a:solidFill>
                  <a:srgbClr val="1E293B"/>
                </a:solidFill>
                <a:latin typeface="Segoe UI"/>
                <a:ea typeface="Segoe UI"/>
              </a:rPr>
              <a:t>• Booking lưu kèm từng hành khách</a:t>
            </a:r>
          </a:p>
          <a:p xmlns:a="http://schemas.openxmlformats.org/drawingml/2006/main">
            <a:r>
              <a:rPr lang="en-US" sz="1250" b="0">
                <a:solidFill>
                  <a:srgbClr val="1E293B"/>
                </a:solidFill>
                <a:latin typeface="Segoe UI"/>
                <a:ea typeface="Segoe UI"/>
              </a:rPr>
              <a:t>• Hủy vé, hoàn tiền (theo FarePolicy)</a:t>
            </a:r>
          </a:p>
        </p:txBody>
      </p:sp>
      <p:sp>
        <p:nvSpPr>
          <p:cNvPr id="100153" name="TextBox 7"/>
          <p:cNvSpPr/>
          <p:nvPr/>
        </p:nvSpPr>
        <p:spPr>
          <a:xfrm xmlns:a="http://schemas.openxmlformats.org/drawingml/2006/main">
            <a:off x="6228000" y="1224000"/>
            <a:ext cx="540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54" name="TextBox 8"/>
          <p:cNvSpPr/>
          <p:nvPr/>
        </p:nvSpPr>
        <p:spPr>
          <a:xfrm xmlns:a="http://schemas.openxmlformats.org/drawingml/2006/main">
            <a:off x="6228000" y="1224000"/>
            <a:ext cx="5400000" cy="432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55" name="TextBox 9"/>
          <p:cNvSpPr txBox="1"/>
          <p:nvPr/>
        </p:nvSpPr>
        <p:spPr>
          <a:xfrm xmlns:a="http://schemas.openxmlformats.org/drawingml/2006/main">
            <a:off x="6372000" y="1296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Modal “Chọn nơi đặt vé”</a:t>
            </a:r>
          </a:p>
        </p:txBody>
      </p:sp>
      <p:sp>
        <p:nvSpPr>
          <p:cNvPr id="100156" name="TextBox 10"/>
          <p:cNvSpPr txBox="1"/>
          <p:nvPr/>
        </p:nvSpPr>
        <p:spPr>
          <a:xfrm xmlns:a="http://schemas.openxmlformats.org/drawingml/2006/main">
            <a:off x="6372000" y="1764000"/>
            <a:ext cx="504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Khi user chọn một chuyến:</a:t>
            </a:r>
          </a:p>
          <a:p xmlns:a="http://schemas.openxmlformats.org/drawingml/2006/main">
            <a:r>
              <a:rPr lang="en-US" sz="1250" b="0">
                <a:solidFill>
                  <a:srgbClr val="1E293B"/>
                </a:solidFill>
                <a:latin typeface="Segoe UI"/>
                <a:ea typeface="Segoe UI"/>
              </a:rPr>
              <a:t/>
            </a:r>
          </a:p>
          <a:p xmlns:a="http://schemas.openxmlformats.org/drawingml/2006/main">
            <a:r>
              <a:rPr lang="en-US" sz="1250" b="0">
                <a:solidFill>
                  <a:srgbClr val="1E293B"/>
                </a:solidFill>
                <a:latin typeface="Segoe UI"/>
                <a:ea typeface="Segoe UI"/>
              </a:rPr>
              <a:t>(a) Đặt tại website chính thức</a:t>
            </a:r>
          </a:p>
          <a:p xmlns:a="http://schemas.openxmlformats.org/drawingml/2006/main">
            <a:r>
              <a:rPr lang="en-US" sz="1250" b="0">
                <a:solidFill>
                  <a:srgbClr val="1E293B"/>
                </a:solidFill>
                <a:latin typeface="Segoe UI"/>
                <a:ea typeface="Segoe UI"/>
              </a:rPr>
              <a:t>• Vietnam Airlines, VietJet</a:t>
            </a:r>
          </a:p>
          <a:p xmlns:a="http://schemas.openxmlformats.org/drawingml/2006/main">
            <a:r>
              <a:rPr lang="en-US" sz="1250" b="0">
                <a:solidFill>
                  <a:srgbClr val="1E293B"/>
                </a:solidFill>
                <a:latin typeface="Segoe UI"/>
                <a:ea typeface="Segoe UI"/>
              </a:rPr>
              <a:t>• Đường sắt VN (dsvn.vn)</a:t>
            </a:r>
          </a:p>
          <a:p xmlns:a="http://schemas.openxmlformats.org/drawingml/2006/main">
            <a:r>
              <a:rPr lang="en-US" sz="1250" b="0">
                <a:solidFill>
                  <a:srgbClr val="1E293B"/>
                </a:solidFill>
                <a:latin typeface="Segoe UI"/>
                <a:ea typeface="Segoe UI"/>
              </a:rPr>
              <a:t>• Phương Trang…</a:t>
            </a:r>
          </a:p>
          <a:p xmlns:a="http://schemas.openxmlformats.org/drawingml/2006/main">
            <a:r>
              <a:rPr lang="en-US" sz="1250" b="0">
                <a:solidFill>
                  <a:srgbClr val="1E293B"/>
                </a:solidFill>
                <a:latin typeface="Segoe UI"/>
                <a:ea typeface="Segoe UI"/>
              </a:rPr>
              <a:t>• Mở tab mới kèm deep link</a:t>
            </a:r>
          </a:p>
          <a:p xmlns:a="http://schemas.openxmlformats.org/drawingml/2006/main">
            <a:r>
              <a:rPr lang="en-US" sz="1250" b="0">
                <a:solidFill>
                  <a:srgbClr val="1E293B"/>
                </a:solidFill>
                <a:latin typeface="Segoe UI"/>
                <a:ea typeface="Segoe UI"/>
              </a:rPr>
              <a:t/>
            </a:r>
          </a:p>
          <a:p xmlns:a="http://schemas.openxmlformats.org/drawingml/2006/main">
            <a:r>
              <a:rPr lang="en-US" sz="1250" b="0">
                <a:solidFill>
                  <a:srgbClr val="1E293B"/>
                </a:solidFill>
                <a:latin typeface="Segoe UI"/>
                <a:ea typeface="Segoe UI"/>
              </a:rPr>
              <a:t>(b) Đặt trực tiếp tại Vé247</a:t>
            </a:r>
          </a:p>
          <a:p xmlns:a="http://schemas.openxmlformats.org/drawingml/2006/main">
            <a:r>
              <a:rPr lang="en-US" sz="1250" b="0">
                <a:solidFill>
                  <a:srgbClr val="1E293B"/>
                </a:solidFill>
                <a:latin typeface="Segoe UI"/>
                <a:ea typeface="Segoe UI"/>
              </a:rPr>
              <a:t>• Quay lại luồng đặt vé của app</a:t>
            </a:r>
          </a:p>
        </p:txBody>
      </p:sp>
      <p:sp>
        <p:nvSpPr>
          <p:cNvPr id="100157" name="TextBox 11"/>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158" name="TextBox 12"/>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12</a:t>
            </a:r>
          </a:p>
        </p:txBody>
      </p:sp>
    </p:spTree>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159"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Thanh toán đa cổng</a:t>
            </a:r>
          </a:p>
        </p:txBody>
      </p:sp>
      <p:sp>
        <p:nvSpPr>
          <p:cNvPr id="100160"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61" name="TextBox 3"/>
          <p:cNvSpPr/>
          <p:nvPr/>
        </p:nvSpPr>
        <p:spPr>
          <a:xfrm xmlns:a="http://schemas.openxmlformats.org/drawingml/2006/main">
            <a:off x="540000" y="1224000"/>
            <a:ext cx="3600000" cy="1512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62" name="TextBox 4"/>
          <p:cNvSpPr/>
          <p:nvPr/>
        </p:nvSpPr>
        <p:spPr>
          <a:xfrm xmlns:a="http://schemas.openxmlformats.org/drawingml/2006/main">
            <a:off x="540000" y="1224000"/>
            <a:ext cx="3600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63" name="TextBox 5"/>
          <p:cNvSpPr txBox="1"/>
          <p:nvPr/>
        </p:nvSpPr>
        <p:spPr>
          <a:xfrm xmlns:a="http://schemas.openxmlformats.org/drawingml/2006/main">
            <a:off x="684000" y="1296000"/>
            <a:ext cx="331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VNPay</a:t>
            </a:r>
          </a:p>
        </p:txBody>
      </p:sp>
      <p:sp>
        <p:nvSpPr>
          <p:cNvPr id="100164" name="TextBox 6"/>
          <p:cNvSpPr txBox="1"/>
          <p:nvPr/>
        </p:nvSpPr>
        <p:spPr>
          <a:xfrm xmlns:a="http://schemas.openxmlformats.org/drawingml/2006/main">
            <a:off x="684000" y="1728000"/>
            <a:ext cx="3312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Đã cấu hình</a:t>
            </a:r>
          </a:p>
          <a:p xmlns:a="http://schemas.openxmlformats.org/drawingml/2006/main">
            <a:r>
              <a:rPr lang="en-US" sz="1250" b="0">
                <a:solidFill>
                  <a:srgbClr val="1E293B"/>
                </a:solidFill>
                <a:latin typeface="Segoe UI"/>
                <a:ea typeface="Segoe UI"/>
              </a:rPr>
              <a:t>Cổng thanh toán qua ngân hàng</a:t>
            </a:r>
          </a:p>
        </p:txBody>
      </p:sp>
      <p:sp>
        <p:nvSpPr>
          <p:cNvPr id="100165" name="TextBox 7"/>
          <p:cNvSpPr/>
          <p:nvPr/>
        </p:nvSpPr>
        <p:spPr>
          <a:xfrm xmlns:a="http://schemas.openxmlformats.org/drawingml/2006/main">
            <a:off x="4428000" y="1224000"/>
            <a:ext cx="3600000" cy="1512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66" name="TextBox 8"/>
          <p:cNvSpPr/>
          <p:nvPr/>
        </p:nvSpPr>
        <p:spPr>
          <a:xfrm xmlns:a="http://schemas.openxmlformats.org/drawingml/2006/main">
            <a:off x="4428000" y="1224000"/>
            <a:ext cx="3600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67" name="TextBox 9"/>
          <p:cNvSpPr txBox="1"/>
          <p:nvPr/>
        </p:nvSpPr>
        <p:spPr>
          <a:xfrm xmlns:a="http://schemas.openxmlformats.org/drawingml/2006/main">
            <a:off x="4572000" y="1296000"/>
            <a:ext cx="331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PayOS</a:t>
            </a:r>
          </a:p>
        </p:txBody>
      </p:sp>
      <p:sp>
        <p:nvSpPr>
          <p:cNvPr id="100168" name="TextBox 10"/>
          <p:cNvSpPr txBox="1"/>
          <p:nvPr/>
        </p:nvSpPr>
        <p:spPr>
          <a:xfrm xmlns:a="http://schemas.openxmlformats.org/drawingml/2006/main">
            <a:off x="4572000" y="1728000"/>
            <a:ext cx="3312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Đã cấu hình</a:t>
            </a:r>
          </a:p>
          <a:p xmlns:a="http://schemas.openxmlformats.org/drawingml/2006/main">
            <a:r>
              <a:rPr lang="en-US" sz="1250" b="0">
                <a:solidFill>
                  <a:srgbClr val="1E293B"/>
                </a:solidFill>
                <a:latin typeface="Segoe UI"/>
                <a:ea typeface="Segoe UI"/>
              </a:rPr>
              <a:t>Thanh toán qua app/QR</a:t>
            </a:r>
          </a:p>
        </p:txBody>
      </p:sp>
      <p:sp>
        <p:nvSpPr>
          <p:cNvPr id="100169" name="TextBox 11"/>
          <p:cNvSpPr/>
          <p:nvPr/>
        </p:nvSpPr>
        <p:spPr>
          <a:xfrm xmlns:a="http://schemas.openxmlformats.org/drawingml/2006/main">
            <a:off x="8316000" y="1224000"/>
            <a:ext cx="3348000" cy="1512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70" name="TextBox 12"/>
          <p:cNvSpPr/>
          <p:nvPr/>
        </p:nvSpPr>
        <p:spPr>
          <a:xfrm xmlns:a="http://schemas.openxmlformats.org/drawingml/2006/main">
            <a:off x="8316000" y="1224000"/>
            <a:ext cx="3348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71" name="TextBox 13"/>
          <p:cNvSpPr txBox="1"/>
          <p:nvPr/>
        </p:nvSpPr>
        <p:spPr>
          <a:xfrm xmlns:a="http://schemas.openxmlformats.org/drawingml/2006/main">
            <a:off x="8460000" y="1296000"/>
            <a:ext cx="306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MoMo</a:t>
            </a:r>
          </a:p>
        </p:txBody>
      </p:sp>
      <p:sp>
        <p:nvSpPr>
          <p:cNvPr id="100172" name="TextBox 14"/>
          <p:cNvSpPr txBox="1"/>
          <p:nvPr/>
        </p:nvSpPr>
        <p:spPr>
          <a:xfrm xmlns:a="http://schemas.openxmlformats.org/drawingml/2006/main">
            <a:off x="8460000" y="1728000"/>
            <a:ext cx="306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Chưa cấu hình key</a:t>
            </a:r>
          </a:p>
          <a:p xmlns:a="http://schemas.openxmlformats.org/drawingml/2006/main">
            <a:r>
              <a:rPr lang="en-US" sz="1250" b="0">
                <a:solidFill>
                  <a:srgbClr val="1E293B"/>
                </a:solidFill>
                <a:latin typeface="Segoe UI"/>
                <a:ea typeface="Segoe UI"/>
              </a:rPr>
              <a:t>Hiển thị “chưa hỗ trợ” khi chọn</a:t>
            </a:r>
          </a:p>
        </p:txBody>
      </p:sp>
      <p:sp>
        <p:nvSpPr>
          <p:cNvPr id="100173" name="TextBox 15"/>
          <p:cNvSpPr/>
          <p:nvPr/>
        </p:nvSpPr>
        <p:spPr>
          <a:xfrm xmlns:a="http://schemas.openxmlformats.org/drawingml/2006/main">
            <a:off x="540000" y="2952000"/>
            <a:ext cx="3600000" cy="1512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74" name="TextBox 16"/>
          <p:cNvSpPr/>
          <p:nvPr/>
        </p:nvSpPr>
        <p:spPr>
          <a:xfrm xmlns:a="http://schemas.openxmlformats.org/drawingml/2006/main">
            <a:off x="540000" y="2952000"/>
            <a:ext cx="3600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75" name="TextBox 17"/>
          <p:cNvSpPr txBox="1"/>
          <p:nvPr/>
        </p:nvSpPr>
        <p:spPr>
          <a:xfrm xmlns:a="http://schemas.openxmlformats.org/drawingml/2006/main">
            <a:off x="684000" y="3024000"/>
            <a:ext cx="331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ZaloPay</a:t>
            </a:r>
          </a:p>
        </p:txBody>
      </p:sp>
      <p:sp>
        <p:nvSpPr>
          <p:cNvPr id="100176" name="TextBox 18"/>
          <p:cNvSpPr txBox="1"/>
          <p:nvPr/>
        </p:nvSpPr>
        <p:spPr>
          <a:xfrm xmlns:a="http://schemas.openxmlformats.org/drawingml/2006/main">
            <a:off x="684000" y="3456000"/>
            <a:ext cx="3312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Chưa cấu hình key</a:t>
            </a:r>
          </a:p>
          <a:p xmlns:a="http://schemas.openxmlformats.org/drawingml/2006/main">
            <a:r>
              <a:rPr lang="en-US" sz="1250" b="0">
                <a:solidFill>
                  <a:srgbClr val="1E293B"/>
                </a:solidFill>
                <a:latin typeface="Segoe UI"/>
                <a:ea typeface="Segoe UI"/>
              </a:rPr>
              <a:t>Hiển thị “chưa hỗ trợ” khi chọn</a:t>
            </a:r>
          </a:p>
        </p:txBody>
      </p:sp>
      <p:sp>
        <p:nvSpPr>
          <p:cNvPr id="100177" name="TextBox 19"/>
          <p:cNvSpPr/>
          <p:nvPr/>
        </p:nvSpPr>
        <p:spPr>
          <a:xfrm xmlns:a="http://schemas.openxmlformats.org/drawingml/2006/main">
            <a:off x="4428000" y="2952000"/>
            <a:ext cx="3600000" cy="1512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78" name="TextBox 20"/>
          <p:cNvSpPr/>
          <p:nvPr/>
        </p:nvSpPr>
        <p:spPr>
          <a:xfrm xmlns:a="http://schemas.openxmlformats.org/drawingml/2006/main">
            <a:off x="4428000" y="2952000"/>
            <a:ext cx="3600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79" name="TextBox 21"/>
          <p:cNvSpPr txBox="1"/>
          <p:nvPr/>
        </p:nvSpPr>
        <p:spPr>
          <a:xfrm xmlns:a="http://schemas.openxmlformats.org/drawingml/2006/main">
            <a:off x="4572000" y="3024000"/>
            <a:ext cx="331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VietQR</a:t>
            </a:r>
          </a:p>
        </p:txBody>
      </p:sp>
      <p:sp>
        <p:nvSpPr>
          <p:cNvPr id="100180" name="TextBox 22"/>
          <p:cNvSpPr txBox="1"/>
          <p:nvPr/>
        </p:nvSpPr>
        <p:spPr>
          <a:xfrm xmlns:a="http://schemas.openxmlformats.org/drawingml/2006/main">
            <a:off x="4572000" y="3456000"/>
            <a:ext cx="3312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Chưa cấu hình key</a:t>
            </a:r>
          </a:p>
          <a:p xmlns:a="http://schemas.openxmlformats.org/drawingml/2006/main">
            <a:r>
              <a:rPr lang="en-US" sz="1250" b="0">
                <a:solidFill>
                  <a:srgbClr val="1E293B"/>
                </a:solidFill>
                <a:latin typeface="Segoe UI"/>
                <a:ea typeface="Segoe UI"/>
              </a:rPr>
              <a:t>Hiển thị “chưa hỗ trợ” khi chọn</a:t>
            </a:r>
          </a:p>
        </p:txBody>
      </p:sp>
      <p:sp>
        <p:nvSpPr>
          <p:cNvPr id="100181" name="TextBox 23"/>
          <p:cNvSpPr/>
          <p:nvPr/>
        </p:nvSpPr>
        <p:spPr>
          <a:xfrm xmlns:a="http://schemas.openxmlformats.org/drawingml/2006/main">
            <a:off x="8316000" y="2952000"/>
            <a:ext cx="3348000" cy="1512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82" name="TextBox 24"/>
          <p:cNvSpPr/>
          <p:nvPr/>
        </p:nvSpPr>
        <p:spPr>
          <a:xfrm xmlns:a="http://schemas.openxmlformats.org/drawingml/2006/main">
            <a:off x="8316000" y="2952000"/>
            <a:ext cx="3348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83" name="TextBox 25"/>
          <p:cNvSpPr txBox="1"/>
          <p:nvPr/>
        </p:nvSpPr>
        <p:spPr>
          <a:xfrm xmlns:a="http://schemas.openxmlformats.org/drawingml/2006/main">
            <a:off x="8460000" y="3024000"/>
            <a:ext cx="306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FFFFFF"/>
                </a:solidFill>
                <a:latin typeface="Segoe UI"/>
                <a:ea typeface="Segoe UI"/>
              </a:rPr>
              <a:t>Thẻ / Chuyển khoản</a:t>
            </a:r>
          </a:p>
        </p:txBody>
      </p:sp>
      <p:sp>
        <p:nvSpPr>
          <p:cNvPr id="100184" name="TextBox 26"/>
          <p:cNvSpPr txBox="1"/>
          <p:nvPr/>
        </p:nvSpPr>
        <p:spPr>
          <a:xfrm xmlns:a="http://schemas.openxmlformats.org/drawingml/2006/main">
            <a:off x="8460000" y="3456000"/>
            <a:ext cx="306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Hỗ trợ</a:t>
            </a:r>
          </a:p>
          <a:p xmlns:a="http://schemas.openxmlformats.org/drawingml/2006/main">
            <a:r>
              <a:rPr lang="en-US" sz="1250" b="0">
                <a:solidFill>
                  <a:srgbClr val="1E293B"/>
                </a:solidFill>
                <a:latin typeface="Segoe UI"/>
                <a:ea typeface="Segoe UI"/>
              </a:rPr>
              <a:t>Lưu phương thức thanh toán</a:t>
            </a:r>
          </a:p>
        </p:txBody>
      </p:sp>
      <p:sp>
        <p:nvSpPr>
          <p:cNvPr id="100185" name="TextBox 27"/>
          <p:cNvSpPr txBox="1"/>
          <p:nvPr/>
        </p:nvSpPr>
        <p:spPr>
          <a:xfrm xmlns:a="http://schemas.openxmlformats.org/drawingml/2006/main">
            <a:off x="540000" y="4752000"/>
            <a:ext cx="11160000" cy="93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64748B"/>
                </a:solidFill>
                <a:latin typeface="Segoe UI"/>
                <a:ea typeface="Segoe UI"/>
              </a:rPr>
              <a:t>Lưu ý trung thực: hiện chỉ VNPay và PayOS có key hoạt động. Các cổng MoMo/ZaloPay/VietQR chưa cấu hình credential — backend trả thông báo rõ ràng “Phương thức này chưa được hỗ trợ” thay vì lỗi mơ hồ. Kiến trúc đã sẵn sàng để bổ sung key bất cứ lúc nào.</a:t>
            </a:r>
          </a:p>
        </p:txBody>
      </p:sp>
      <p:sp>
        <p:nvSpPr>
          <p:cNvPr id="100186" name="TextBox 28"/>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187" name="TextBox 29"/>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13</a:t>
            </a:r>
          </a:p>
        </p:txBody>
      </p:sp>
    </p:spTree>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188"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Cảnh báo giá • Chatbot • Cộng đồng</a:t>
            </a:r>
          </a:p>
        </p:txBody>
      </p:sp>
      <p:sp>
        <p:nvSpPr>
          <p:cNvPr id="100189"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90" name="TextBox 3"/>
          <p:cNvSpPr/>
          <p:nvPr/>
        </p:nvSpPr>
        <p:spPr>
          <a:xfrm xmlns:a="http://schemas.openxmlformats.org/drawingml/2006/main">
            <a:off x="540000" y="1224000"/>
            <a:ext cx="360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91" name="TextBox 4"/>
          <p:cNvSpPr/>
          <p:nvPr/>
        </p:nvSpPr>
        <p:spPr>
          <a:xfrm xmlns:a="http://schemas.openxmlformats.org/drawingml/2006/main">
            <a:off x="540000" y="1224000"/>
            <a:ext cx="3600000" cy="432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192" name="TextBox 5"/>
          <p:cNvSpPr txBox="1"/>
          <p:nvPr/>
        </p:nvSpPr>
        <p:spPr>
          <a:xfrm xmlns:a="http://schemas.openxmlformats.org/drawingml/2006/main">
            <a:off x="684000" y="1296000"/>
            <a:ext cx="331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Cảnh báo giá</a:t>
            </a:r>
          </a:p>
        </p:txBody>
      </p:sp>
      <p:sp>
        <p:nvSpPr>
          <p:cNvPr id="100193" name="TextBox 6"/>
          <p:cNvSpPr txBox="1"/>
          <p:nvPr/>
        </p:nvSpPr>
        <p:spPr>
          <a:xfrm xmlns:a="http://schemas.openxmlformats.org/drawingml/2006/main">
            <a:off x="684000" y="1764000"/>
            <a:ext cx="3312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Đặt cảnh báo cho tuyến</a:t>
            </a:r>
          </a:p>
          <a:p xmlns:a="http://schemas.openxmlformats.org/drawingml/2006/main">
            <a:r>
              <a:rPr lang="en-US" sz="1250" b="0">
                <a:solidFill>
                  <a:srgbClr val="1E293B"/>
                </a:solidFill>
                <a:latin typeface="Segoe UI"/>
                <a:ea typeface="Segoe UI"/>
              </a:rPr>
              <a:t>  + mức giá mong muốn</a:t>
            </a:r>
          </a:p>
          <a:p xmlns:a="http://schemas.openxmlformats.org/drawingml/2006/main">
            <a:r>
              <a:rPr lang="en-US" sz="1250" b="0">
                <a:solidFill>
                  <a:srgbClr val="1E293B"/>
                </a:solidFill>
                <a:latin typeface="Segoe UI"/>
                <a:ea typeface="Segoe UI"/>
              </a:rPr>
              <a:t>• Kiểm tra tự động khi giá</a:t>
            </a:r>
          </a:p>
          <a:p xmlns:a="http://schemas.openxmlformats.org/drawingml/2006/main">
            <a:r>
              <a:rPr lang="en-US" sz="1250" b="0">
                <a:solidFill>
                  <a:srgbClr val="1E293B"/>
                </a:solidFill>
                <a:latin typeface="Segoe UI"/>
                <a:ea typeface="Segoe UI"/>
              </a:rPr>
              <a:t>  giảm xuống dưới ngưỡng</a:t>
            </a:r>
          </a:p>
          <a:p xmlns:a="http://schemas.openxmlformats.org/drawingml/2006/main">
            <a:r>
              <a:rPr lang="en-US" sz="1250" b="0">
                <a:solidFill>
                  <a:srgbClr val="1E293B"/>
                </a:solidFill>
                <a:latin typeface="Segoe UI"/>
                <a:ea typeface="Segoe UI"/>
              </a:rPr>
              <a:t>• Thông báo đẩy qua email</a:t>
            </a:r>
          </a:p>
          <a:p xmlns:a="http://schemas.openxmlformats.org/drawingml/2006/main">
            <a:r>
              <a:rPr lang="en-US" sz="1250" b="0">
                <a:solidFill>
                  <a:srgbClr val="1E293B"/>
                </a:solidFill>
                <a:latin typeface="Segoe UI"/>
                <a:ea typeface="Segoe UI"/>
              </a:rPr>
              <a:t>• Quản lý danh sách cảnh báo</a:t>
            </a:r>
          </a:p>
          <a:p xmlns:a="http://schemas.openxmlformats.org/drawingml/2006/main">
            <a:r>
              <a:rPr lang="en-US" sz="1250" b="0">
                <a:solidFill>
                  <a:srgbClr val="1E293B"/>
                </a:solidFill>
                <a:latin typeface="Segoe UI"/>
                <a:ea typeface="Segoe UI"/>
              </a:rPr>
              <a:t>  (bật/tắt, xóa)</a:t>
            </a:r>
          </a:p>
          <a:p xmlns:a="http://schemas.openxmlformats.org/drawingml/2006/main">
            <a:r>
              <a:rPr lang="en-US" sz="1250" b="0">
                <a:solidFill>
                  <a:srgbClr val="1E293B"/>
                </a:solidFill>
                <a:latin typeface="Segoe UI"/>
                <a:ea typeface="Segoe UI"/>
              </a:rPr>
              <a:t>• Gói VIP: nhiều cảnh báo/ngày,</a:t>
            </a:r>
          </a:p>
          <a:p xmlns:a="http://schemas.openxmlformats.org/drawingml/2006/main">
            <a:r>
              <a:rPr lang="en-US" sz="1250" b="0">
                <a:solidFill>
                  <a:srgbClr val="1E293B"/>
                </a:solidFill>
                <a:latin typeface="Segoe UI"/>
                <a:ea typeface="Segoe UI"/>
              </a:rPr>
              <a:t>  cảnh báo sớm</a:t>
            </a:r>
          </a:p>
        </p:txBody>
      </p:sp>
      <p:sp>
        <p:nvSpPr>
          <p:cNvPr id="100194" name="TextBox 7"/>
          <p:cNvSpPr/>
          <p:nvPr/>
        </p:nvSpPr>
        <p:spPr>
          <a:xfrm xmlns:a="http://schemas.openxmlformats.org/drawingml/2006/main">
            <a:off x="4428000" y="1224000"/>
            <a:ext cx="360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95" name="TextBox 8"/>
          <p:cNvSpPr/>
          <p:nvPr/>
        </p:nvSpPr>
        <p:spPr>
          <a:xfrm xmlns:a="http://schemas.openxmlformats.org/drawingml/2006/main">
            <a:off x="4428000" y="1224000"/>
            <a:ext cx="3600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196" name="TextBox 9"/>
          <p:cNvSpPr txBox="1"/>
          <p:nvPr/>
        </p:nvSpPr>
        <p:spPr>
          <a:xfrm xmlns:a="http://schemas.openxmlformats.org/drawingml/2006/main">
            <a:off x="4572000" y="1296000"/>
            <a:ext cx="331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Chatbot trợ lý</a:t>
            </a:r>
          </a:p>
        </p:txBody>
      </p:sp>
      <p:sp>
        <p:nvSpPr>
          <p:cNvPr id="100197" name="TextBox 10"/>
          <p:cNvSpPr txBox="1"/>
          <p:nvPr/>
        </p:nvSpPr>
        <p:spPr>
          <a:xfrm xmlns:a="http://schemas.openxmlformats.org/drawingml/2006/main">
            <a:off x="4572000" y="1764000"/>
            <a:ext cx="3312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Trợ lý rule-based (/chat)</a:t>
            </a:r>
          </a:p>
          <a:p xmlns:a="http://schemas.openxmlformats.org/drawingml/2006/main">
            <a:r>
              <a:rPr lang="en-US" sz="1250" b="0">
                <a:solidFill>
                  <a:srgbClr val="1E293B"/>
                </a:solidFill>
                <a:latin typeface="Segoe UI"/>
                <a:ea typeface="Segoe UI"/>
              </a:rPr>
              <a:t>• Gợi ý tuyến theo ngân sách</a:t>
            </a:r>
          </a:p>
          <a:p xmlns:a="http://schemas.openxmlformats.org/drawingml/2006/main">
            <a:r>
              <a:rPr lang="en-US" sz="1250" b="0">
                <a:solidFill>
                  <a:srgbClr val="1E293B"/>
                </a:solidFill>
                <a:latin typeface="Segoe UI"/>
                <a:ea typeface="Segoe UI"/>
              </a:rPr>
              <a:t>• Giải đáp FAQ: đặt vé, hủy,</a:t>
            </a:r>
          </a:p>
          <a:p xmlns:a="http://schemas.openxmlformats.org/drawingml/2006/main">
            <a:r>
              <a:rPr lang="en-US" sz="1250" b="0">
                <a:solidFill>
                  <a:srgbClr val="1E293B"/>
                </a:solidFill>
                <a:latin typeface="Segoe UI"/>
                <a:ea typeface="Segoe UI"/>
              </a:rPr>
              <a:t>  hoàn tiền, bảo hiểm</a:t>
            </a:r>
          </a:p>
          <a:p xmlns:a="http://schemas.openxmlformats.org/drawingml/2006/main">
            <a:r>
              <a:rPr lang="en-US" sz="1250" b="0">
                <a:solidFill>
                  <a:srgbClr val="1E293B"/>
                </a:solidFill>
                <a:latin typeface="Segoe UI"/>
                <a:ea typeface="Segoe UI"/>
              </a:rPr>
              <a:t>• Gợi ý lộ trình tối ưu</a:t>
            </a:r>
          </a:p>
          <a:p xmlns:a="http://schemas.openxmlformats.org/drawingml/2006/main">
            <a:r>
              <a:rPr lang="en-US" sz="1250" b="0">
                <a:solidFill>
                  <a:srgbClr val="1E293B"/>
                </a:solidFill>
                <a:latin typeface="Segoe UI"/>
                <a:ea typeface="Segoe UI"/>
              </a:rPr>
              <a:t>• Gợi ý bài viết mẹo đi lại</a:t>
            </a:r>
          </a:p>
        </p:txBody>
      </p:sp>
      <p:sp>
        <p:nvSpPr>
          <p:cNvPr id="100198" name="TextBox 11"/>
          <p:cNvSpPr/>
          <p:nvPr/>
        </p:nvSpPr>
        <p:spPr>
          <a:xfrm xmlns:a="http://schemas.openxmlformats.org/drawingml/2006/main">
            <a:off x="8316000" y="1224000"/>
            <a:ext cx="3348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199" name="TextBox 12"/>
          <p:cNvSpPr/>
          <p:nvPr/>
        </p:nvSpPr>
        <p:spPr>
          <a:xfrm xmlns:a="http://schemas.openxmlformats.org/drawingml/2006/main">
            <a:off x="8316000" y="1224000"/>
            <a:ext cx="3348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00" name="TextBox 13"/>
          <p:cNvSpPr txBox="1"/>
          <p:nvPr/>
        </p:nvSpPr>
        <p:spPr>
          <a:xfrm xmlns:a="http://schemas.openxmlformats.org/drawingml/2006/main">
            <a:off x="8460000" y="1296000"/>
            <a:ext cx="306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Cộng đồng</a:t>
            </a:r>
          </a:p>
        </p:txBody>
      </p:sp>
      <p:sp>
        <p:nvSpPr>
          <p:cNvPr id="100201" name="TextBox 14"/>
          <p:cNvSpPr txBox="1"/>
          <p:nvPr/>
        </p:nvSpPr>
        <p:spPr>
          <a:xfrm xmlns:a="http://schemas.openxmlformats.org/drawingml/2006/main">
            <a:off x="8460000" y="1764000"/>
            <a:ext cx="306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Đánh giá chuyến đi (sao,</a:t>
            </a:r>
          </a:p>
          <a:p xmlns:a="http://schemas.openxmlformats.org/drawingml/2006/main">
            <a:r>
              <a:rPr lang="en-US" sz="1250" b="0">
                <a:solidFill>
                  <a:srgbClr val="1E293B"/>
                </a:solidFill>
                <a:latin typeface="Segoe UI"/>
                <a:ea typeface="Segoe UI"/>
              </a:rPr>
              <a:t>  nhận xét) — giữ nguyên khi</a:t>
            </a:r>
          </a:p>
          <a:p xmlns:a="http://schemas.openxmlformats.org/drawingml/2006/main">
            <a:r>
              <a:rPr lang="en-US" sz="1250" b="0">
                <a:solidFill>
                  <a:srgbClr val="1E293B"/>
                </a:solidFill>
                <a:latin typeface="Segoe UI"/>
                <a:ea typeface="Segoe UI"/>
              </a:rPr>
              <a:t>  app khởi động lại</a:t>
            </a:r>
          </a:p>
          <a:p xmlns:a="http://schemas.openxmlformats.org/drawingml/2006/main">
            <a:r>
              <a:rPr lang="en-US" sz="1250" b="0">
                <a:solidFill>
                  <a:srgbClr val="1E293B"/>
                </a:solidFill>
                <a:latin typeface="Segoe UI"/>
                <a:ea typeface="Segoe UI"/>
              </a:rPr>
              <a:t>• Mẹo đi lại (community tips)</a:t>
            </a:r>
          </a:p>
          <a:p xmlns:a="http://schemas.openxmlformats.org/drawingml/2006/main">
            <a:r>
              <a:rPr lang="en-US" sz="1250" b="0">
                <a:solidFill>
                  <a:srgbClr val="1E293B"/>
                </a:solidFill>
                <a:latin typeface="Segoe UI"/>
                <a:ea typeface="Segoe UI"/>
              </a:rPr>
              <a:t>• Chỉ số carbon cho từng</a:t>
            </a:r>
          </a:p>
          <a:p xmlns:a="http://schemas.openxmlformats.org/drawingml/2006/main">
            <a:r>
              <a:rPr lang="en-US" sz="1250" b="0">
                <a:solidFill>
                  <a:srgbClr val="1E293B"/>
                </a:solidFill>
                <a:latin typeface="Segoe UI"/>
                <a:ea typeface="Segoe UI"/>
              </a:rPr>
              <a:t>  phương tiện</a:t>
            </a:r>
          </a:p>
          <a:p xmlns:a="http://schemas.openxmlformats.org/drawingml/2006/main">
            <a:r>
              <a:rPr lang="en-US" sz="1250" b="0">
                <a:solidFill>
                  <a:srgbClr val="1E293B"/>
                </a:solidFill>
                <a:latin typeface="Segoe UI"/>
                <a:ea typeface="Segoe UI"/>
              </a:rPr>
              <a:t>• Chia sẻ link OG / share</a:t>
            </a:r>
          </a:p>
        </p:txBody>
      </p:sp>
      <p:sp>
        <p:nvSpPr>
          <p:cNvPr id="100202" name="TextBox 15"/>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203" name="TextBox 16"/>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14</a:t>
            </a:r>
          </a:p>
        </p:txBody>
      </p:sp>
    </p:spTree>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204"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Trang quản trị (Admin)</a:t>
            </a:r>
          </a:p>
        </p:txBody>
      </p:sp>
      <p:sp>
        <p:nvSpPr>
          <p:cNvPr id="100205"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06" name="TextBox 3"/>
          <p:cNvSpPr/>
          <p:nvPr/>
        </p:nvSpPr>
        <p:spPr>
          <a:xfrm xmlns:a="http://schemas.openxmlformats.org/drawingml/2006/main">
            <a:off x="540000" y="1224000"/>
            <a:ext cx="612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07" name="TextBox 4"/>
          <p:cNvSpPr/>
          <p:nvPr/>
        </p:nvSpPr>
        <p:spPr>
          <a:xfrm xmlns:a="http://schemas.openxmlformats.org/drawingml/2006/main">
            <a:off x="540000" y="1224000"/>
            <a:ext cx="6120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08" name="TextBox 5"/>
          <p:cNvSpPr txBox="1"/>
          <p:nvPr/>
        </p:nvSpPr>
        <p:spPr>
          <a:xfrm xmlns:a="http://schemas.openxmlformats.org/drawingml/2006/main">
            <a:off x="684000" y="1296000"/>
            <a:ext cx="583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Các phân hệ quản lý</a:t>
            </a:r>
          </a:p>
        </p:txBody>
      </p:sp>
      <p:sp>
        <p:nvSpPr>
          <p:cNvPr id="100209" name="TextBox 6"/>
          <p:cNvSpPr txBox="1"/>
          <p:nvPr/>
        </p:nvSpPr>
        <p:spPr>
          <a:xfrm xmlns:a="http://schemas.openxmlformats.org/drawingml/2006/main">
            <a:off x="684000" y="1764000"/>
            <a:ext cx="5832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Dashboard: thống kê doanh thu, booking,</a:t>
            </a:r>
          </a:p>
          <a:p xmlns:a="http://schemas.openxmlformats.org/drawingml/2006/main">
            <a:r>
              <a:rPr lang="en-US" sz="1250" b="0">
                <a:solidFill>
                  <a:srgbClr val="1E293B"/>
                </a:solidFill>
                <a:latin typeface="Segoe UI"/>
                <a:ea typeface="Segoe UI"/>
              </a:rPr>
              <a:t>  lượt tra cứu</a:t>
            </a:r>
          </a:p>
          <a:p xmlns:a="http://schemas.openxmlformats.org/drawingml/2006/main">
            <a:r>
              <a:rPr lang="en-US" sz="1250" b="0">
                <a:solidFill>
                  <a:srgbClr val="1E293B"/>
                </a:solidFill>
                <a:latin typeface="Segoe UI"/>
                <a:ea typeface="Segoe UI"/>
              </a:rPr>
              <a:t>• Quản lý user: danh sách, khóa/mở khóa</a:t>
            </a:r>
          </a:p>
          <a:p xmlns:a="http://schemas.openxmlformats.org/drawingml/2006/main">
            <a:r>
              <a:rPr lang="en-US" sz="1250" b="0">
                <a:solidFill>
                  <a:srgbClr val="1E293B"/>
                </a:solidFill>
                <a:latin typeface="Segoe UI"/>
                <a:ea typeface="Segoe UI"/>
              </a:rPr>
              <a:t>• Quản lý booking: xem, cập nhật trạng thái</a:t>
            </a:r>
          </a:p>
          <a:p xmlns:a="http://schemas.openxmlformats.org/drawingml/2006/main">
            <a:r>
              <a:rPr lang="en-US" sz="1250" b="0">
                <a:solidFill>
                  <a:srgbClr val="1E293B"/>
                </a:solidFill>
                <a:latin typeface="Segoe UI"/>
                <a:ea typeface="Segoe UI"/>
              </a:rPr>
              <a:t>• Quản lý chuyến đi: CRUD Flights / Trains /</a:t>
            </a:r>
          </a:p>
          <a:p xmlns:a="http://schemas.openxmlformats.org/drawingml/2006/main">
            <a:r>
              <a:rPr lang="en-US" sz="1250" b="0">
                <a:solidFill>
                  <a:srgbClr val="1E293B"/>
                </a:solidFill>
                <a:latin typeface="Segoe UI"/>
                <a:ea typeface="Segoe UI"/>
              </a:rPr>
              <a:t>  Buses + import/export</a:t>
            </a:r>
          </a:p>
          <a:p xmlns:a="http://schemas.openxmlformats.org/drawingml/2006/main">
            <a:r>
              <a:rPr lang="en-US" sz="1250" b="0">
                <a:solidFill>
                  <a:srgbClr val="1E293B"/>
                </a:solidFill>
                <a:latin typeface="Segoe UI"/>
                <a:ea typeface="Segoe UI"/>
              </a:rPr>
              <a:t>• Quản lý mã giảm giá, gói VIP</a:t>
            </a:r>
          </a:p>
          <a:p xmlns:a="http://schemas.openxmlformats.org/drawingml/2006/main">
            <a:r>
              <a:rPr lang="en-US" sz="1250" b="0">
                <a:solidFill>
                  <a:srgbClr val="1E293B"/>
                </a:solidFill>
                <a:latin typeface="Segoe UI"/>
                <a:ea typeface="Segoe UI"/>
              </a:rPr>
              <a:t>• Quản lý đánh giá, mẹo đi lại</a:t>
            </a:r>
          </a:p>
          <a:p xmlns:a="http://schemas.openxmlformats.org/drawingml/2006/main">
            <a:r>
              <a:rPr lang="en-US" sz="1250" b="0">
                <a:solidFill>
                  <a:srgbClr val="1E293B"/>
                </a:solidFill>
                <a:latin typeface="Segoe UI"/>
                <a:ea typeface="Segoe UI"/>
              </a:rPr>
              <a:t>• Phát thông báo đến người dùng</a:t>
            </a:r>
          </a:p>
        </p:txBody>
      </p:sp>
      <p:sp>
        <p:nvSpPr>
          <p:cNvPr id="100210" name="TextBox 7"/>
          <p:cNvSpPr/>
          <p:nvPr/>
        </p:nvSpPr>
        <p:spPr>
          <a:xfrm xmlns:a="http://schemas.openxmlformats.org/drawingml/2006/main">
            <a:off x="6948000" y="1224000"/>
            <a:ext cx="468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11" name="TextBox 8"/>
          <p:cNvSpPr/>
          <p:nvPr/>
        </p:nvSpPr>
        <p:spPr>
          <a:xfrm xmlns:a="http://schemas.openxmlformats.org/drawingml/2006/main">
            <a:off x="6948000" y="1224000"/>
            <a:ext cx="4680000" cy="432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12" name="TextBox 9"/>
          <p:cNvSpPr txBox="1"/>
          <p:nvPr/>
        </p:nvSpPr>
        <p:spPr>
          <a:xfrm xmlns:a="http://schemas.openxmlformats.org/drawingml/2006/main">
            <a:off x="7092000" y="1296000"/>
            <a:ext cx="4392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Bảo mật</a:t>
            </a:r>
          </a:p>
        </p:txBody>
      </p:sp>
      <p:sp>
        <p:nvSpPr>
          <p:cNvPr id="100213" name="TextBox 10"/>
          <p:cNvSpPr txBox="1"/>
          <p:nvPr/>
        </p:nvSpPr>
        <p:spPr>
          <a:xfrm xmlns:a="http://schemas.openxmlformats.org/drawingml/2006/main">
            <a:off x="7092000" y="1764000"/>
            <a:ext cx="4392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Đăng nhập admin riêng</a:t>
            </a:r>
          </a:p>
          <a:p xmlns:a="http://schemas.openxmlformats.org/drawingml/2006/main">
            <a:r>
              <a:rPr lang="en-US" sz="1250" b="0">
                <a:solidFill>
                  <a:srgbClr val="1E293B"/>
                </a:solidFill>
                <a:latin typeface="Segoe UI"/>
                <a:ea typeface="Segoe UI"/>
              </a:rPr>
              <a:t>• Attribute [RequireAdmin]</a:t>
            </a:r>
          </a:p>
          <a:p xmlns:a="http://schemas.openxmlformats.org/drawingml/2006/main">
            <a:r>
              <a:rPr lang="en-US" sz="1250" b="0">
                <a:solidFill>
                  <a:srgbClr val="1E293B"/>
                </a:solidFill>
                <a:latin typeface="Segoe UI"/>
                <a:ea typeface="Segoe UI"/>
              </a:rPr>
              <a:t>  bảo vệ các endpoint quản trị</a:t>
            </a:r>
          </a:p>
          <a:p xmlns:a="http://schemas.openxmlformats.org/drawingml/2006/main">
            <a:r>
              <a:rPr lang="en-US" sz="1250" b="0">
                <a:solidFill>
                  <a:srgbClr val="1E293B"/>
                </a:solidFill>
                <a:latin typeface="Segoe UI"/>
                <a:ea typeface="Segoe UI"/>
              </a:rPr>
              <a:t>• Kiểm tra quyền ở middleware</a:t>
            </a:r>
          </a:p>
          <a:p xmlns:a="http://schemas.openxmlformats.org/drawingml/2006/main">
            <a:r>
              <a:rPr lang="en-US" sz="1250" b="0">
                <a:solidFill>
                  <a:srgbClr val="1E293B"/>
                </a:solidFill>
                <a:latin typeface="Segoe UI"/>
                <a:ea typeface="Segoe UI"/>
              </a:rPr>
              <a:t>• Không lộ endpoint quản trị</a:t>
            </a:r>
          </a:p>
          <a:p xmlns:a="http://schemas.openxmlformats.org/drawingml/2006/main">
            <a:r>
              <a:rPr lang="en-US" sz="1250" b="0">
                <a:solidFill>
                  <a:srgbClr val="1E293B"/>
                </a:solidFill>
                <a:latin typeface="Segoe UI"/>
                <a:ea typeface="Segoe UI"/>
              </a:rPr>
              <a:t>  cho user thường</a:t>
            </a:r>
          </a:p>
        </p:txBody>
      </p:sp>
      <p:sp>
        <p:nvSpPr>
          <p:cNvPr id="100214" name="TextBox 11"/>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215" name="TextBox 12"/>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15</a:t>
            </a:r>
          </a:p>
        </p:txBody>
      </p:sp>
    </p:spTree>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216"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Luồng nghiệp vụ: user mua vé</a:t>
            </a:r>
          </a:p>
        </p:txBody>
      </p:sp>
      <p:sp>
        <p:nvSpPr>
          <p:cNvPr id="100217"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18" name="TextBox 3"/>
          <p:cNvSpPr/>
          <p:nvPr/>
        </p:nvSpPr>
        <p:spPr>
          <a:xfrm xmlns:a="http://schemas.openxmlformats.org/drawingml/2006/main">
            <a:off x="540000" y="2160000"/>
            <a:ext cx="1764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19" name="TextBox 4"/>
          <p:cNvSpPr/>
          <p:nvPr/>
        </p:nvSpPr>
        <p:spPr>
          <a:xfrm xmlns:a="http://schemas.openxmlformats.org/drawingml/2006/main">
            <a:off x="540000" y="2160000"/>
            <a:ext cx="1764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20" name="TextBox 5"/>
          <p:cNvSpPr txBox="1"/>
          <p:nvPr/>
        </p:nvSpPr>
        <p:spPr>
          <a:xfrm xmlns:a="http://schemas.openxmlformats.org/drawingml/2006/main">
            <a:off x="648000" y="2232000"/>
            <a:ext cx="1548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1. Tra cứu</a:t>
            </a:r>
          </a:p>
        </p:txBody>
      </p:sp>
      <p:sp>
        <p:nvSpPr>
          <p:cNvPr id="100221" name="TextBox 6"/>
          <p:cNvSpPr txBox="1"/>
          <p:nvPr/>
        </p:nvSpPr>
        <p:spPr>
          <a:xfrm xmlns:a="http://schemas.openxmlformats.org/drawingml/2006/main">
            <a:off x="648000" y="2664000"/>
            <a:ext cx="1548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1E293B"/>
                </a:solidFill>
                <a:latin typeface="Segoe UI"/>
                <a:ea typeface="Segoe UI"/>
              </a:rPr>
              <a:t>Chọn tuyến,</a:t>
            </a:r>
          </a:p>
          <a:p xmlns:a="http://schemas.openxmlformats.org/drawingml/2006/main">
            <a:r>
              <a:rPr lang="en-US" sz="1150" b="0">
                <a:solidFill>
                  <a:srgbClr val="1E293B"/>
                </a:solidFill>
                <a:latin typeface="Segoe UI"/>
                <a:ea typeface="Segoe UI"/>
              </a:rPr>
              <a:t>ngày đi, số vé</a:t>
            </a:r>
          </a:p>
        </p:txBody>
      </p:sp>
      <p:sp>
        <p:nvSpPr>
          <p:cNvPr id="100222" name="TextBox 7"/>
          <p:cNvSpPr/>
          <p:nvPr/>
        </p:nvSpPr>
        <p:spPr>
          <a:xfrm xmlns:a="http://schemas.openxmlformats.org/drawingml/2006/main">
            <a:off x="2412000" y="2952000"/>
            <a:ext cx="324000" cy="360000"/>
          </a:xfrm>
          <a:prstGeom xmlns:a="http://schemas.openxmlformats.org/drawingml/2006/main" prst="right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223" name="TextBox 8"/>
          <p:cNvSpPr/>
          <p:nvPr/>
        </p:nvSpPr>
        <p:spPr>
          <a:xfrm xmlns:a="http://schemas.openxmlformats.org/drawingml/2006/main">
            <a:off x="2772000" y="2160000"/>
            <a:ext cx="1764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24" name="TextBox 9"/>
          <p:cNvSpPr/>
          <p:nvPr/>
        </p:nvSpPr>
        <p:spPr>
          <a:xfrm xmlns:a="http://schemas.openxmlformats.org/drawingml/2006/main">
            <a:off x="2772000" y="2160000"/>
            <a:ext cx="1764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25" name="TextBox 10"/>
          <p:cNvSpPr txBox="1"/>
          <p:nvPr/>
        </p:nvSpPr>
        <p:spPr>
          <a:xfrm xmlns:a="http://schemas.openxmlformats.org/drawingml/2006/main">
            <a:off x="2880000" y="2232000"/>
            <a:ext cx="1548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2. Chọn vé</a:t>
            </a:r>
          </a:p>
        </p:txBody>
      </p:sp>
      <p:sp>
        <p:nvSpPr>
          <p:cNvPr id="100226" name="TextBox 11"/>
          <p:cNvSpPr txBox="1"/>
          <p:nvPr/>
        </p:nvSpPr>
        <p:spPr>
          <a:xfrm xmlns:a="http://schemas.openxmlformats.org/drawingml/2006/main">
            <a:off x="2880000" y="2664000"/>
            <a:ext cx="1548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1E293B"/>
                </a:solidFill>
                <a:latin typeface="Segoe UI"/>
                <a:ea typeface="Segoe UI"/>
              </a:rPr>
              <a:t>So sánh giá,</a:t>
            </a:r>
          </a:p>
          <a:p xmlns:a="http://schemas.openxmlformats.org/drawingml/2006/main">
            <a:r>
              <a:rPr lang="en-US" sz="1150" b="0">
                <a:solidFill>
                  <a:srgbClr val="1E293B"/>
                </a:solidFill>
                <a:latin typeface="Segoe UI"/>
                <a:ea typeface="Segoe UI"/>
              </a:rPr>
              <a:t>chọn chuyến,</a:t>
            </a:r>
          </a:p>
          <a:p xmlns:a="http://schemas.openxmlformats.org/drawingml/2006/main">
            <a:r>
              <a:rPr lang="en-US" sz="1150" b="0">
                <a:solidFill>
                  <a:srgbClr val="1E293B"/>
                </a:solidFill>
                <a:latin typeface="Segoe UI"/>
                <a:ea typeface="Segoe UI"/>
              </a:rPr>
              <a:t>nơi đặt vé</a:t>
            </a:r>
          </a:p>
        </p:txBody>
      </p:sp>
      <p:sp>
        <p:nvSpPr>
          <p:cNvPr id="100227" name="TextBox 12"/>
          <p:cNvSpPr/>
          <p:nvPr/>
        </p:nvSpPr>
        <p:spPr>
          <a:xfrm xmlns:a="http://schemas.openxmlformats.org/drawingml/2006/main">
            <a:off x="4644000" y="2952000"/>
            <a:ext cx="324000" cy="360000"/>
          </a:xfrm>
          <a:prstGeom xmlns:a="http://schemas.openxmlformats.org/drawingml/2006/main" prst="right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228" name="TextBox 13"/>
          <p:cNvSpPr/>
          <p:nvPr/>
        </p:nvSpPr>
        <p:spPr>
          <a:xfrm xmlns:a="http://schemas.openxmlformats.org/drawingml/2006/main">
            <a:off x="5004000" y="2160000"/>
            <a:ext cx="1764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29" name="TextBox 14"/>
          <p:cNvSpPr/>
          <p:nvPr/>
        </p:nvSpPr>
        <p:spPr>
          <a:xfrm xmlns:a="http://schemas.openxmlformats.org/drawingml/2006/main">
            <a:off x="5004000" y="2160000"/>
            <a:ext cx="1764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30" name="TextBox 15"/>
          <p:cNvSpPr txBox="1"/>
          <p:nvPr/>
        </p:nvSpPr>
        <p:spPr>
          <a:xfrm xmlns:a="http://schemas.openxmlformats.org/drawingml/2006/main">
            <a:off x="5112000" y="2232000"/>
            <a:ext cx="1548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3. Nhập TT</a:t>
            </a:r>
          </a:p>
        </p:txBody>
      </p:sp>
      <p:sp>
        <p:nvSpPr>
          <p:cNvPr id="100231" name="TextBox 16"/>
          <p:cNvSpPr txBox="1"/>
          <p:nvPr/>
        </p:nvSpPr>
        <p:spPr>
          <a:xfrm xmlns:a="http://schemas.openxmlformats.org/drawingml/2006/main">
            <a:off x="5112000" y="2664000"/>
            <a:ext cx="1548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1E293B"/>
                </a:solidFill>
                <a:latin typeface="Segoe UI"/>
                <a:ea typeface="Segoe UI"/>
              </a:rPr>
              <a:t>Thông tin từng</a:t>
            </a:r>
          </a:p>
          <a:p xmlns:a="http://schemas.openxmlformats.org/drawingml/2006/main">
            <a:r>
              <a:rPr lang="en-US" sz="1150" b="0">
                <a:solidFill>
                  <a:srgbClr val="1E293B"/>
                </a:solidFill>
                <a:latin typeface="Segoe UI"/>
                <a:ea typeface="Segoe UI"/>
              </a:rPr>
              <a:t>hành khách + bảo</a:t>
            </a:r>
          </a:p>
          <a:p xmlns:a="http://schemas.openxmlformats.org/drawingml/2006/main">
            <a:r>
              <a:rPr lang="en-US" sz="1150" b="0">
                <a:solidFill>
                  <a:srgbClr val="1E293B"/>
                </a:solidFill>
                <a:latin typeface="Segoe UI"/>
                <a:ea typeface="Segoe UI"/>
              </a:rPr>
              <a:t>hiểm (nếu có)</a:t>
            </a:r>
          </a:p>
        </p:txBody>
      </p:sp>
      <p:sp>
        <p:nvSpPr>
          <p:cNvPr id="100232" name="TextBox 17"/>
          <p:cNvSpPr/>
          <p:nvPr/>
        </p:nvSpPr>
        <p:spPr>
          <a:xfrm xmlns:a="http://schemas.openxmlformats.org/drawingml/2006/main">
            <a:off x="6876000" y="2952000"/>
            <a:ext cx="324000" cy="360000"/>
          </a:xfrm>
          <a:prstGeom xmlns:a="http://schemas.openxmlformats.org/drawingml/2006/main" prst="right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233" name="TextBox 18"/>
          <p:cNvSpPr/>
          <p:nvPr/>
        </p:nvSpPr>
        <p:spPr>
          <a:xfrm xmlns:a="http://schemas.openxmlformats.org/drawingml/2006/main">
            <a:off x="7236000" y="2160000"/>
            <a:ext cx="1764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34" name="TextBox 19"/>
          <p:cNvSpPr/>
          <p:nvPr/>
        </p:nvSpPr>
        <p:spPr>
          <a:xfrm xmlns:a="http://schemas.openxmlformats.org/drawingml/2006/main">
            <a:off x="7236000" y="2160000"/>
            <a:ext cx="1764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35" name="TextBox 20"/>
          <p:cNvSpPr txBox="1"/>
          <p:nvPr/>
        </p:nvSpPr>
        <p:spPr>
          <a:xfrm xmlns:a="http://schemas.openxmlformats.org/drawingml/2006/main">
            <a:off x="7344000" y="2232000"/>
            <a:ext cx="1548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4. Thanh toán</a:t>
            </a:r>
          </a:p>
        </p:txBody>
      </p:sp>
      <p:sp>
        <p:nvSpPr>
          <p:cNvPr id="100236" name="TextBox 21"/>
          <p:cNvSpPr txBox="1"/>
          <p:nvPr/>
        </p:nvSpPr>
        <p:spPr>
          <a:xfrm xmlns:a="http://schemas.openxmlformats.org/drawingml/2006/main">
            <a:off x="7344000" y="2664000"/>
            <a:ext cx="1548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1E293B"/>
                </a:solidFill>
                <a:latin typeface="Segoe UI"/>
                <a:ea typeface="Segoe UI"/>
              </a:rPr>
              <a:t>VNPay / PayOS /</a:t>
            </a:r>
          </a:p>
          <a:p xmlns:a="http://schemas.openxmlformats.org/drawingml/2006/main">
            <a:r>
              <a:rPr lang="en-US" sz="1150" b="0">
                <a:solidFill>
                  <a:srgbClr val="1E293B"/>
                </a:solidFill>
                <a:latin typeface="Segoe UI"/>
                <a:ea typeface="Segoe UI"/>
              </a:rPr>
              <a:t>thẻ — xác minh</a:t>
            </a:r>
          </a:p>
          <a:p xmlns:a="http://schemas.openxmlformats.org/drawingml/2006/main">
            <a:r>
              <a:rPr lang="en-US" sz="1150" b="0">
                <a:solidFill>
                  <a:srgbClr val="1E293B"/>
                </a:solidFill>
                <a:latin typeface="Segoe UI"/>
                <a:ea typeface="Segoe UI"/>
              </a:rPr>
              <a:t>qua trang return</a:t>
            </a:r>
          </a:p>
        </p:txBody>
      </p:sp>
      <p:sp>
        <p:nvSpPr>
          <p:cNvPr id="100237" name="TextBox 22"/>
          <p:cNvSpPr/>
          <p:nvPr/>
        </p:nvSpPr>
        <p:spPr>
          <a:xfrm xmlns:a="http://schemas.openxmlformats.org/drawingml/2006/main">
            <a:off x="9108000" y="2952000"/>
            <a:ext cx="324000" cy="360000"/>
          </a:xfrm>
          <a:prstGeom xmlns:a="http://schemas.openxmlformats.org/drawingml/2006/main" prst="right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238" name="TextBox 23"/>
          <p:cNvSpPr/>
          <p:nvPr/>
        </p:nvSpPr>
        <p:spPr>
          <a:xfrm xmlns:a="http://schemas.openxmlformats.org/drawingml/2006/main">
            <a:off x="9468000" y="2160000"/>
            <a:ext cx="1764000" cy="201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39" name="TextBox 24"/>
          <p:cNvSpPr/>
          <p:nvPr/>
        </p:nvSpPr>
        <p:spPr>
          <a:xfrm xmlns:a="http://schemas.openxmlformats.org/drawingml/2006/main">
            <a:off x="9468000" y="2160000"/>
            <a:ext cx="1764000" cy="396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40" name="TextBox 25"/>
          <p:cNvSpPr txBox="1"/>
          <p:nvPr/>
        </p:nvSpPr>
        <p:spPr>
          <a:xfrm xmlns:a="http://schemas.openxmlformats.org/drawingml/2006/main">
            <a:off x="9576000" y="2232000"/>
            <a:ext cx="1548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5. Xác nhận</a:t>
            </a:r>
          </a:p>
        </p:txBody>
      </p:sp>
      <p:sp>
        <p:nvSpPr>
          <p:cNvPr id="100241" name="TextBox 26"/>
          <p:cNvSpPr txBox="1"/>
          <p:nvPr/>
        </p:nvSpPr>
        <p:spPr>
          <a:xfrm xmlns:a="http://schemas.openxmlformats.org/drawingml/2006/main">
            <a:off x="9576000" y="2664000"/>
            <a:ext cx="1548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1E293B"/>
                </a:solidFill>
                <a:latin typeface="Segoe UI"/>
                <a:ea typeface="Segoe UI"/>
              </a:rPr>
              <a:t>Booking lưu DB,</a:t>
            </a:r>
          </a:p>
          <a:p xmlns:a="http://schemas.openxmlformats.org/drawingml/2006/main">
            <a:r>
              <a:rPr lang="en-US" sz="1150" b="0">
                <a:solidFill>
                  <a:srgbClr val="1E293B"/>
                </a:solidFill>
                <a:latin typeface="Segoe UI"/>
                <a:ea typeface="Segoe UI"/>
              </a:rPr>
              <a:t>trừ ghế, trạng</a:t>
            </a:r>
          </a:p>
          <a:p xmlns:a="http://schemas.openxmlformats.org/drawingml/2006/main">
            <a:r>
              <a:rPr lang="en-US" sz="1150" b="0">
                <a:solidFill>
                  <a:srgbClr val="1E293B"/>
                </a:solidFill>
                <a:latin typeface="Segoe UI"/>
                <a:ea typeface="Segoe UI"/>
              </a:rPr>
              <a:t>thái xác nhận</a:t>
            </a:r>
          </a:p>
        </p:txBody>
      </p:sp>
      <p:sp>
        <p:nvSpPr>
          <p:cNvPr id="100242" name="TextBox 27"/>
          <p:cNvSpPr/>
          <p:nvPr/>
        </p:nvSpPr>
        <p:spPr>
          <a:xfrm xmlns:a="http://schemas.openxmlformats.org/drawingml/2006/main">
            <a:off x="10152000" y="4212000"/>
            <a:ext cx="432000" cy="360000"/>
          </a:xfrm>
          <a:prstGeom xmlns:a="http://schemas.openxmlformats.org/drawingml/2006/main" prst="downArrow">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243" name="TextBox 28"/>
          <p:cNvSpPr/>
          <p:nvPr/>
        </p:nvSpPr>
        <p:spPr>
          <a:xfrm xmlns:a="http://schemas.openxmlformats.org/drawingml/2006/main">
            <a:off x="540000" y="4464000"/>
            <a:ext cx="10692000" cy="936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44" name="TextBox 29"/>
          <p:cNvSpPr/>
          <p:nvPr/>
        </p:nvSpPr>
        <p:spPr>
          <a:xfrm xmlns:a="http://schemas.openxmlformats.org/drawingml/2006/main">
            <a:off x="540000" y="4464000"/>
            <a:ext cx="10692000" cy="396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45" name="TextBox 30"/>
          <p:cNvSpPr txBox="1"/>
          <p:nvPr/>
        </p:nvSpPr>
        <p:spPr>
          <a:xfrm xmlns:a="http://schemas.openxmlformats.org/drawingml/2006/main">
            <a:off x="684000" y="4536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FFFF"/>
                </a:solidFill>
                <a:latin typeface="Segoe UI"/>
                <a:ea typeface="Segoe UI"/>
              </a:rPr>
              <a:t>6. Hoàn tất — Vé &amp; lịch trình</a:t>
            </a:r>
          </a:p>
        </p:txBody>
      </p:sp>
      <p:sp>
        <p:nvSpPr>
          <p:cNvPr id="100246" name="TextBox 31"/>
          <p:cNvSpPr txBox="1"/>
          <p:nvPr/>
        </p:nvSpPr>
        <p:spPr>
          <a:xfrm xmlns:a="http://schemas.openxmlformats.org/drawingml/2006/main">
            <a:off x="684000" y="4968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1E293B"/>
                </a:solidFill>
                <a:latin typeface="Segoe UI"/>
                <a:ea typeface="Segoe UI"/>
              </a:rPr>
              <a:t>Hiển thị vé điện tử trong “Lịch sử đặt vé”, xuất lịch .ics, gửi thông báo email, đánh giá chuyến đi.</a:t>
            </a:r>
          </a:p>
        </p:txBody>
      </p:sp>
      <p:sp>
        <p:nvSpPr>
          <p:cNvPr id="100247" name="TextBox 32"/>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248" name="TextBox 33"/>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16</a:t>
            </a:r>
          </a:p>
        </p:txBody>
      </p:sp>
    </p:spTree>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249"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Kết quả kiểm thử</a:t>
            </a:r>
          </a:p>
        </p:txBody>
      </p:sp>
      <p:sp>
        <p:nvSpPr>
          <p:cNvPr id="100250"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graphicFrame>
        <p:nvGraphicFramePr>
          <p:cNvPr id="100251" name="Table 1"/>
          <p:cNvGraphicFramePr/>
          <p:nvPr/>
        </p:nvGraphicFramePr>
        <p:xfrm>
          <a:off xmlns:a="http://schemas.openxmlformats.org/drawingml/2006/main" x="540000" y="1224000"/>
          <a:ext xmlns:a="http://schemas.openxmlformats.org/drawingml/2006/main" cx="8229600" cy="4554000"/>
        </p:xfrm>
        <a:graphic xmlns:a="http://schemas.openxmlformats.org/drawingml/2006/main">
          <a:graphicData uri="http://schemas.openxmlformats.org/drawingml/2006/table">
            <a:tbl>
              <a:tblPr firstRow="1" bandRow="1"/>
              <a:tblGrid>
                <a:gridCol w="3096000"/>
                <a:gridCol w="1080000"/>
                <a:gridCol w="3024000"/>
              </a:tblGrid>
              <a:tr h="414000">
                <a:tc>
                  <a:txBody>
                    <a:bodyPr/>
                    <a:lstStyle/>
                    <a:p>
                      <a:r>
                        <a:rPr lang="en-US" b="1">
                          <a:solidFill>
                            <a:srgbClr val="FFFFFF"/>
                          </a:solidFill>
                        </a:rPr>
                        <a:t>Hạng mục</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2563EB"/>
                    </a:solidFill>
                  </a:tcPr>
                </a:tc>
                <a:tc>
                  <a:txBody>
                    <a:bodyPr/>
                    <a:lstStyle/>
                    <a:p>
                      <a:r>
                        <a:rPr lang="en-US" b="1">
                          <a:solidFill>
                            <a:srgbClr val="FFFFFF"/>
                          </a:solidFill>
                        </a:rPr>
                        <a:t>Kết quả</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2563EB"/>
                    </a:solidFill>
                  </a:tcPr>
                </a:tc>
                <a:tc>
                  <a:txBody>
                    <a:bodyPr/>
                    <a:lstStyle/>
                    <a:p>
                      <a:r>
                        <a:rPr lang="en-US" b="1">
                          <a:solidFill>
                            <a:srgbClr val="FFFFFF"/>
                          </a:solidFill>
                        </a:rPr>
                        <a:t>Chi tiết</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2563EB"/>
                    </a:solidFill>
                  </a:tcPr>
                </a:tc>
              </a:tr>
              <a:tr h="414000">
                <a:tc>
                  <a:txBody>
                    <a:bodyPr/>
                    <a:lstStyle/>
                    <a:p>
                      <a:r>
                        <a:rPr lang="en-US"/>
                        <a:t>Regression /health</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200 OK</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Regression /api/flights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200 trả danh sách chuyến</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Regression /api/prices/compare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200 so sánh 3 phương tiện</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Regression /api/prices/optimal-route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200 lộ trình tối ưu</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Regression /api/chat/recommend</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200 gợi ý tuyến</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Share link /share/*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200 id hợp lệ / 404 id không tồn tại</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Đặt nhiều hành khách</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tổng tiền = giá × N, trừ đủ ghế</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Bảo hiểm theo vé</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ghi BookingInsurances = giá × N</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Thanh toán chưa cấu hình</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PASS</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trả thông báo rõ ràng (400)</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r h="414000">
                <a:tc>
                  <a:txBody>
                    <a:bodyPr/>
                    <a:lstStyle/>
                    <a:p>
                      <a:r>
                        <a:rPr lang="en-US"/>
                        <a:t>Unit test xUnit</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Đạt</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c>
                  <a:txBody>
                    <a:bodyPr/>
                    <a:lstStyle/>
                    <a:p>
                      <a:r>
                        <a:rPr lang="en-US"/>
                        <a:t>backend test suite</a:t>
                      </a:r>
                    </a:p>
                  </a:txBody>
                  <a:tcPr>
                    <a:lnL w="12700">
                      <a:solidFill>
                        <a:srgbClr val="E2E8F0"/>
                      </a:solidFill>
                      <a:prstDash val="solid"/>
                    </a:lnL>
                    <a:lnR w="12700">
                      <a:solidFill>
                        <a:srgbClr val="E2E8F0"/>
                      </a:solidFill>
                      <a:prstDash val="solid"/>
                    </a:lnR>
                    <a:lnT w="12700">
                      <a:solidFill>
                        <a:srgbClr val="E2E8F0"/>
                      </a:solidFill>
                      <a:prstDash val="solid"/>
                    </a:lnT>
                    <a:lnB w="12700">
                      <a:solidFill>
                        <a:srgbClr val="E2E8F0"/>
                      </a:solidFill>
                      <a:prstDash val="solid"/>
                    </a:lnB>
                    <a:solidFill>
                      <a:srgbClr val="FFFFFF"/>
                    </a:solidFill>
                  </a:tcPr>
                </a:tc>
              </a:tr>
            </a:tbl>
          </a:graphicData>
        </a:graphic>
      </p:graphicFrame>
      <p:sp>
        <p:nvSpPr>
          <p:cNvPr id="100252" name="TextBox 3"/>
          <p:cNvSpPr txBox="1"/>
          <p:nvPr/>
        </p:nvSpPr>
        <p:spPr>
          <a:xfrm xmlns:a="http://schemas.openxmlformats.org/drawingml/2006/main">
            <a:off x="540000" y="5904000"/>
            <a:ext cx="1116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50" b="0">
                <a:solidFill>
                  <a:srgbClr val="64748B"/>
                </a:solidFill>
                <a:latin typeface="Segoe UI"/>
                <a:ea typeface="Segoe UI"/>
              </a:rPr>
              <a:t>Regression chạy lại sau mỗi lần sửa lỗi: build backend + frontend 0 lỗi, không phá luồng cũ.</a:t>
            </a:r>
          </a:p>
        </p:txBody>
      </p:sp>
      <p:sp>
        <p:nvSpPr>
          <p:cNvPr id="100253" name="TextBox 4"/>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254" name="TextBox 5"/>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17</a:t>
            </a:r>
          </a:p>
        </p:txBody>
      </p:sp>
    </p:spTree>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255"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Hạn chế &amp; hướng phát triển</a:t>
            </a:r>
          </a:p>
        </p:txBody>
      </p:sp>
      <p:sp>
        <p:nvSpPr>
          <p:cNvPr id="100256"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57" name="TextBox 3"/>
          <p:cNvSpPr/>
          <p:nvPr/>
        </p:nvSpPr>
        <p:spPr>
          <a:xfrm xmlns:a="http://schemas.openxmlformats.org/drawingml/2006/main">
            <a:off x="540000" y="1224000"/>
            <a:ext cx="540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58" name="TextBox 4"/>
          <p:cNvSpPr/>
          <p:nvPr/>
        </p:nvSpPr>
        <p:spPr>
          <a:xfrm xmlns:a="http://schemas.openxmlformats.org/drawingml/2006/main">
            <a:off x="540000" y="1224000"/>
            <a:ext cx="5400000" cy="432000"/>
          </a:xfrm>
          <a:prstGeom xmlns:a="http://schemas.openxmlformats.org/drawingml/2006/main" prst="roundRect">
            <a:avLst/>
          </a:prstGeom>
          <a:solidFill xmlns:a="http://schemas.openxmlformats.org/drawingml/2006/main">
            <a:srgbClr val="0F1E3D"/>
          </a:solidFill>
        </p:spPr>
        <p:txBody>
          <a:bodyPr xmlns:a="http://schemas.openxmlformats.org/drawingml/2006/main"/>
          <a:lstStyle xmlns:a="http://schemas.openxmlformats.org/drawingml/2006/main"/>
          <a:p xmlns:a="http://schemas.openxmlformats.org/drawingml/2006/main"/>
        </p:txBody>
      </p:sp>
      <p:sp>
        <p:nvSpPr>
          <p:cNvPr id="100259" name="TextBox 5"/>
          <p:cNvSpPr txBox="1"/>
          <p:nvPr/>
        </p:nvSpPr>
        <p:spPr>
          <a:xfrm xmlns:a="http://schemas.openxmlformats.org/drawingml/2006/main">
            <a:off x="684000" y="1296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Hạn chế (trung thực)</a:t>
            </a:r>
          </a:p>
        </p:txBody>
      </p:sp>
      <p:sp>
        <p:nvSpPr>
          <p:cNvPr id="100260" name="TextBox 6"/>
          <p:cNvSpPr txBox="1"/>
          <p:nvPr/>
        </p:nvSpPr>
        <p:spPr>
          <a:xfrm xmlns:a="http://schemas.openxmlformats.org/drawingml/2006/main">
            <a:off x="684000" y="1764000"/>
            <a:ext cx="504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Giá vé máy bay là DỮ LIỆU MẪU —</a:t>
            </a:r>
          </a:p>
          <a:p xmlns:a="http://schemas.openxmlformats.org/drawingml/2006/main">
            <a:r>
              <a:rPr lang="en-US" sz="1250" b="0">
                <a:solidFill>
                  <a:srgbClr val="1E293B"/>
                </a:solidFill>
                <a:latin typeface="Segoe UI"/>
                <a:ea typeface="Segoe UI"/>
              </a:rPr>
              <a:t>  chưa có API giá vé free (Amadeus</a:t>
            </a:r>
          </a:p>
          <a:p xmlns:a="http://schemas.openxmlformats.org/drawingml/2006/main">
            <a:r>
              <a:rPr lang="en-US" sz="1250" b="0">
                <a:solidFill>
                  <a:srgbClr val="1E293B"/>
                </a:solidFill>
                <a:latin typeface="Segoe UI"/>
                <a:ea typeface="Segoe UI"/>
              </a:rPr>
              <a:t>  ngừng 07/2026); API thật phải trả phí</a:t>
            </a:r>
          </a:p>
          <a:p xmlns:a="http://schemas.openxmlformats.org/drawingml/2006/main">
            <a:r>
              <a:rPr lang="en-US" sz="1250" b="0">
                <a:solidFill>
                  <a:srgbClr val="1E293B"/>
                </a:solidFill>
                <a:latin typeface="Segoe UI"/>
                <a:ea typeface="Segoe UI"/>
              </a:rPr>
              <a:t>• “Thời gian thực” là mô phỏng dao</a:t>
            </a:r>
          </a:p>
          <a:p xmlns:a="http://schemas.openxmlformats.org/drawingml/2006/main">
            <a:r>
              <a:rPr lang="en-US" sz="1250" b="0">
                <a:solidFill>
                  <a:srgbClr val="1E293B"/>
                </a:solidFill>
                <a:latin typeface="Segoe UI"/>
                <a:ea typeface="Segoe UI"/>
              </a:rPr>
              <a:t>  động giá, không phải dữ liệu hãng</a:t>
            </a:r>
          </a:p>
          <a:p xmlns:a="http://schemas.openxmlformats.org/drawingml/2006/main">
            <a:r>
              <a:rPr lang="en-US" sz="1250" b="0">
                <a:solidFill>
                  <a:srgbClr val="1E293B"/>
                </a:solidFill>
                <a:latin typeface="Segoe UI"/>
                <a:ea typeface="Segoe UI"/>
              </a:rPr>
              <a:t>• MoMo / ZaloPay / VietQR chưa cấu</a:t>
            </a:r>
          </a:p>
          <a:p xmlns:a="http://schemas.openxmlformats.org/drawingml/2006/main">
            <a:r>
              <a:rPr lang="en-US" sz="1250" b="0">
                <a:solidFill>
                  <a:srgbClr val="1E293B"/>
                </a:solidFill>
                <a:latin typeface="Segoe UI"/>
                <a:ea typeface="Segoe UI"/>
              </a:rPr>
              <a:t>  hình credential (chỉ VNPay, PayOS có key)</a:t>
            </a:r>
          </a:p>
          <a:p xmlns:a="http://schemas.openxmlformats.org/drawingml/2006/main">
            <a:r>
              <a:rPr lang="en-US" sz="1250" b="0">
                <a:solidFill>
                  <a:srgbClr val="1E293B"/>
                </a:solidFill>
                <a:latin typeface="Segoe UI"/>
                <a:ea typeface="Segoe UI"/>
              </a:rPr>
              <a:t>• Chưa có app mobile native</a:t>
            </a:r>
          </a:p>
        </p:txBody>
      </p:sp>
      <p:sp>
        <p:nvSpPr>
          <p:cNvPr id="100261" name="TextBox 7"/>
          <p:cNvSpPr/>
          <p:nvPr/>
        </p:nvSpPr>
        <p:spPr>
          <a:xfrm xmlns:a="http://schemas.openxmlformats.org/drawingml/2006/main">
            <a:off x="6228000" y="1224000"/>
            <a:ext cx="5400000" cy="446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62" name="TextBox 8"/>
          <p:cNvSpPr/>
          <p:nvPr/>
        </p:nvSpPr>
        <p:spPr>
          <a:xfrm xmlns:a="http://schemas.openxmlformats.org/drawingml/2006/main">
            <a:off x="6228000" y="1224000"/>
            <a:ext cx="5400000" cy="432000"/>
          </a:xfrm>
          <a:prstGeom xmlns:a="http://schemas.openxmlformats.org/drawingml/2006/main" prst="round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63" name="TextBox 9"/>
          <p:cNvSpPr txBox="1"/>
          <p:nvPr/>
        </p:nvSpPr>
        <p:spPr>
          <a:xfrm xmlns:a="http://schemas.openxmlformats.org/drawingml/2006/main">
            <a:off x="6372000" y="1296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FFFF"/>
                </a:solidFill>
                <a:latin typeface="Segoe UI"/>
                <a:ea typeface="Segoe UI"/>
              </a:rPr>
              <a:t>Hướng phát triển</a:t>
            </a:r>
          </a:p>
        </p:txBody>
      </p:sp>
      <p:sp>
        <p:nvSpPr>
          <p:cNvPr id="100264" name="TextBox 10"/>
          <p:cNvSpPr txBox="1"/>
          <p:nvPr/>
        </p:nvSpPr>
        <p:spPr>
          <a:xfrm xmlns:a="http://schemas.openxmlformats.org/drawingml/2006/main">
            <a:off x="6372000" y="1764000"/>
            <a:ext cx="504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50" b="0">
                <a:solidFill>
                  <a:srgbClr val="1E293B"/>
                </a:solidFill>
                <a:latin typeface="Segoe UI"/>
                <a:ea typeface="Segoe UI"/>
              </a:rPr>
              <a:t>• Tích hợp API thật nhiều nguồn:</a:t>
            </a:r>
          </a:p>
          <a:p xmlns:a="http://schemas.openxmlformats.org/drawingml/2006/main">
            <a:r>
              <a:rPr lang="en-US" sz="1250" b="0">
                <a:solidFill>
                  <a:srgbClr val="1E293B"/>
                </a:solidFill>
                <a:latin typeface="Segoe UI"/>
                <a:ea typeface="Segoe UI"/>
              </a:rPr>
              <a:t>  lớp IPriceSource (Database, DSVN</a:t>
            </a:r>
          </a:p>
          <a:p xmlns:a="http://schemas.openxmlformats.org/drawingml/2006/main">
            <a:r>
              <a:rPr lang="en-US" sz="1250" b="0">
                <a:solidFill>
                  <a:srgbClr val="1E293B"/>
                </a:solidFill>
                <a:latin typeface="Segoe UI"/>
                <a:ea typeface="Segoe UI"/>
              </a:rPr>
              <a:t>  giá tàu, Aviationstack sân bay) +</a:t>
            </a:r>
          </a:p>
          <a:p xmlns:a="http://schemas.openxmlformats.org/drawingml/2006/main">
            <a:r>
              <a:rPr lang="en-US" sz="1250" b="0">
                <a:solidFill>
                  <a:srgbClr val="1E293B"/>
                </a:solidFill>
                <a:latin typeface="Segoe UI"/>
                <a:ea typeface="Segoe UI"/>
              </a:rPr>
              <a:t>  fallback về DB khi nguồn ngoài lỗi</a:t>
            </a:r>
          </a:p>
          <a:p xmlns:a="http://schemas.openxmlformats.org/drawingml/2006/main">
            <a:r>
              <a:rPr lang="en-US" sz="1250" b="0">
                <a:solidFill>
                  <a:srgbClr val="1E293B"/>
                </a:solidFill>
                <a:latin typeface="Segoe UI"/>
                <a:ea typeface="Segoe UI"/>
              </a:rPr>
              <a:t>• Cấu hình đủ cổng thanh toán</a:t>
            </a:r>
          </a:p>
          <a:p xmlns:a="http://schemas.openxmlformats.org/drawingml/2006/main">
            <a:r>
              <a:rPr lang="en-US" sz="1250" b="0">
                <a:solidFill>
                  <a:srgbClr val="1E293B"/>
                </a:solidFill>
                <a:latin typeface="Segoe UI"/>
                <a:ea typeface="Segoe UI"/>
              </a:rPr>
              <a:t>• Dự đoán giá bằng ML tốt hơn</a:t>
            </a:r>
          </a:p>
          <a:p xmlns:a="http://schemas.openxmlformats.org/drawingml/2006/main">
            <a:r>
              <a:rPr lang="en-US" sz="1250" b="0">
                <a:solidFill>
                  <a:srgbClr val="1E293B"/>
                </a:solidFill>
                <a:latin typeface="Segoe UI"/>
                <a:ea typeface="Segoe UI"/>
              </a:rPr>
              <a:t>• App mobile (React Native)</a:t>
            </a:r>
          </a:p>
          <a:p xmlns:a="http://schemas.openxmlformats.org/drawingml/2006/main">
            <a:r>
              <a:rPr lang="en-US" sz="1250" b="0">
                <a:solidFill>
                  <a:srgbClr val="1E293B"/>
                </a:solidFill>
                <a:latin typeface="Segoe UI"/>
                <a:ea typeface="Segoe UI"/>
              </a:rPr>
              <a:t>• Mở rộng: vé tàu quốc tế, xe limousine</a:t>
            </a:r>
          </a:p>
        </p:txBody>
      </p:sp>
      <p:sp>
        <p:nvSpPr>
          <p:cNvPr id="100265" name="TextBox 11"/>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266" name="TextBox 12"/>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18</a:t>
            </a:r>
          </a:p>
        </p:txBody>
      </p:sp>
    </p:spTree>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267" name="TextBox 1"/>
          <p:cNvSpPr txBox="1"/>
          <p:nvPr/>
        </p:nvSpPr>
        <p:spPr>
          <a:xfrm xmlns:a="http://schemas.openxmlformats.org/drawingml/2006/main">
            <a:off x="540000" y="288000"/>
            <a:ext cx="11160000" cy="61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700" b="1">
                <a:solidFill>
                  <a:srgbClr val="0F1E3D"/>
                </a:solidFill>
                <a:latin typeface="Segoe UI"/>
                <a:ea typeface="Segoe UI"/>
              </a:rPr>
              <a:t>Kết luận</a:t>
            </a:r>
          </a:p>
        </p:txBody>
      </p:sp>
      <p:sp>
        <p:nvSpPr>
          <p:cNvPr id="100268" name="TextBox 2"/>
          <p:cNvSpPr/>
          <p:nvPr/>
        </p:nvSpPr>
        <p:spPr>
          <a:xfrm xmlns:a="http://schemas.openxmlformats.org/drawingml/2006/main">
            <a:off x="576000" y="918000"/>
            <a:ext cx="864000" cy="43200"/>
          </a:xfrm>
          <a:prstGeom xmlns:a="http://schemas.openxmlformats.org/drawingml/2006/main" prst="rect">
            <a:avLst/>
          </a:prstGeom>
          <a:solidFill xmlns:a="http://schemas.openxmlformats.org/drawingml/2006/main">
            <a:srgbClr val="2563EB"/>
          </a:solidFill>
        </p:spPr>
        <p:txBody>
          <a:bodyPr xmlns:a="http://schemas.openxmlformats.org/drawingml/2006/main"/>
          <a:lstStyle xmlns:a="http://schemas.openxmlformats.org/drawingml/2006/main"/>
          <a:p xmlns:a="http://schemas.openxmlformats.org/drawingml/2006/main"/>
        </p:txBody>
      </p:sp>
      <p:sp>
        <p:nvSpPr>
          <p:cNvPr id="100269" name="TextBox 3"/>
          <p:cNvSpPr/>
          <p:nvPr/>
        </p:nvSpPr>
        <p:spPr>
          <a:xfrm xmlns:a="http://schemas.openxmlformats.org/drawingml/2006/main">
            <a:off x="540000" y="1224000"/>
            <a:ext cx="11160000" cy="2520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70" name="TextBox 4"/>
          <p:cNvSpPr txBox="1"/>
          <p:nvPr/>
        </p:nvSpPr>
        <p:spPr>
          <a:xfrm xmlns:a="http://schemas.openxmlformats.org/drawingml/2006/main">
            <a:off x="756000" y="1404000"/>
            <a:ext cx="10440000" cy="22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50" b="0">
                <a:solidFill>
                  <a:srgbClr val="1E293B"/>
                </a:solidFill>
                <a:latin typeface="Segoe UI"/>
                <a:ea typeface="Segoe UI"/>
              </a:rPr>
              <a:t>• Hoàn thành mục tiêu: một cổng tổng hợp + so sánh giá vé 3 loại phương tiện,</a:t>
            </a:r>
          </a:p>
          <a:p xmlns:a="http://schemas.openxmlformats.org/drawingml/2006/main">
            <a:r>
              <a:rPr lang="en-US" sz="1350" b="0">
                <a:solidFill>
                  <a:srgbClr val="1E293B"/>
                </a:solidFill>
                <a:latin typeface="Segoe UI"/>
                <a:ea typeface="Segoe UI"/>
              </a:rPr>
              <a:t>  gợi ý lộ trình tối ưu, đặt vé &amp; thanh toán, thời gian thực, trang quản trị.</a:t>
            </a:r>
          </a:p>
          <a:p xmlns:a="http://schemas.openxmlformats.org/drawingml/2006/main">
            <a:r>
              <a:rPr lang="en-US" sz="1350" b="0">
                <a:solidFill>
                  <a:srgbClr val="1E293B"/>
                </a:solidFill>
                <a:latin typeface="Segoe UI"/>
                <a:ea typeface="Segoe UI"/>
              </a:rPr>
              <a:t/>
            </a:r>
          </a:p>
          <a:p xmlns:a="http://schemas.openxmlformats.org/drawingml/2006/main">
            <a:r>
              <a:rPr lang="en-US" sz="1350" b="0">
                <a:solidFill>
                  <a:srgbClr val="1E293B"/>
                </a:solidFill>
                <a:latin typeface="Segoe UI"/>
                <a:ea typeface="Segoe UI"/>
              </a:rPr>
              <a:t>• Kiến trúc 3 tầng rõ ràng (React — ASP.NET Core — Azure SQL), dễ mở rộng,</a:t>
            </a:r>
          </a:p>
          <a:p xmlns:a="http://schemas.openxmlformats.org/drawingml/2006/main">
            <a:r>
              <a:rPr lang="en-US" sz="1350" b="0">
                <a:solidFill>
                  <a:srgbClr val="1E293B"/>
                </a:solidFill>
                <a:latin typeface="Segoe UI"/>
                <a:ea typeface="Segoe UI"/>
              </a:rPr>
              <a:t>  tự tạo schema + seed idempotent khi khởi động.</a:t>
            </a:r>
          </a:p>
          <a:p xmlns:a="http://schemas.openxmlformats.org/drawingml/2006/main">
            <a:r>
              <a:rPr lang="en-US" sz="1350" b="0">
                <a:solidFill>
                  <a:srgbClr val="1E293B"/>
                </a:solidFill>
                <a:latin typeface="Segoe UI"/>
                <a:ea typeface="Segoe UI"/>
              </a:rPr>
              <a:t/>
            </a:r>
          </a:p>
          <a:p xmlns:a="http://schemas.openxmlformats.org/drawingml/2006/main">
            <a:r>
              <a:rPr lang="en-US" sz="1350" b="0">
                <a:solidFill>
                  <a:srgbClr val="1E293B"/>
                </a:solidFill>
                <a:latin typeface="Segoe UI"/>
                <a:ea typeface="Segoe UI"/>
              </a:rPr>
              <a:t>• Toàn bộ regression test PASS sau mỗi lần sửa lỗi; đã sửa các bug quan trọng</a:t>
            </a:r>
          </a:p>
          <a:p xmlns:a="http://schemas.openxmlformats.org/drawingml/2006/main">
            <a:r>
              <a:rPr lang="en-US" sz="1350" b="0">
                <a:solidFill>
                  <a:srgbClr val="1E293B"/>
                </a:solidFill>
                <a:latin typeface="Segoe UI"/>
                <a:ea typeface="Segoe UI"/>
              </a:rPr>
              <a:t>  (trùng route /share/*, mất dữ liệu đánh giá khi restart, credential thanh toán rỗng).</a:t>
            </a:r>
          </a:p>
          <a:p xmlns:a="http://schemas.openxmlformats.org/drawingml/2006/main">
            <a:r>
              <a:rPr lang="en-US" sz="1350" b="0">
                <a:solidFill>
                  <a:srgbClr val="1E293B"/>
                </a:solidFill>
                <a:latin typeface="Segoe UI"/>
                <a:ea typeface="Segoe UI"/>
              </a:rPr>
              <a:t/>
            </a:r>
          </a:p>
          <a:p xmlns:a="http://schemas.openxmlformats.org/drawingml/2006/main">
            <a:r>
              <a:rPr lang="en-US" sz="1350" b="0">
                <a:solidFill>
                  <a:srgbClr val="1E293B"/>
                </a:solidFill>
                <a:latin typeface="Segoe UI"/>
                <a:ea typeface="Segoe UI"/>
              </a:rPr>
              <a:t>• Nền tảng sẵn sàng cho bước tích hợp API giá vé thật và mở rộng tính năng.</a:t>
            </a:r>
          </a:p>
        </p:txBody>
      </p:sp>
      <p:sp>
        <p:nvSpPr>
          <p:cNvPr id="100271" name="TextBox 5"/>
          <p:cNvSpPr/>
          <p:nvPr/>
        </p:nvSpPr>
        <p:spPr>
          <a:xfrm xmlns:a="http://schemas.openxmlformats.org/drawingml/2006/main">
            <a:off x="540000" y="4032000"/>
            <a:ext cx="11160000" cy="1224000"/>
          </a:xfrm>
          <a:prstGeom xmlns:a="http://schemas.openxmlformats.org/drawingml/2006/main" prst="roundRect">
            <a:avLst/>
          </a:prstGeom>
          <a:solidFill xmlns:a="http://schemas.openxmlformats.org/drawingml/2006/main">
            <a:srgbClr val="FFFFFF"/>
          </a:solidFill>
          <a:ln xmlns:a="http://schemas.openxmlformats.org/drawingml/2006/main">
            <a:solidFill>
              <a:srgbClr val="E2E8F0"/>
            </a:solidFill>
          </a:ln>
        </p:spPr>
        <p:txBody>
          <a:bodyPr xmlns:a="http://schemas.openxmlformats.org/drawingml/2006/main"/>
          <a:lstStyle xmlns:a="http://schemas.openxmlformats.org/drawingml/2006/main"/>
          <a:p xmlns:a="http://schemas.openxmlformats.org/drawingml/2006/main"/>
        </p:txBody>
      </p:sp>
      <p:sp>
        <p:nvSpPr>
          <p:cNvPr id="100272" name="TextBox 6"/>
          <p:cNvSpPr txBox="1"/>
          <p:nvPr/>
        </p:nvSpPr>
        <p:spPr>
          <a:xfrm xmlns:a="http://schemas.openxmlformats.org/drawingml/2006/main">
            <a:off x="756000" y="4212000"/>
            <a:ext cx="1044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50" b="0">
                <a:solidFill>
                  <a:srgbClr val="1E293B"/>
                </a:solidFill>
                <a:latin typeface="Segoe UI"/>
                <a:ea typeface="Segoe UI"/>
              </a:rPr>
              <a:t>Đồ án minh chứng được toàn bộ vòng đời phát triển phần mềm: phân tích, thiết kế</a:t>
            </a:r>
          </a:p>
          <a:p xmlns:a="http://schemas.openxmlformats.org/drawingml/2006/main">
            <a:r>
              <a:rPr lang="en-US" sz="1350" b="0">
                <a:solidFill>
                  <a:srgbClr val="1E293B"/>
                </a:solidFill>
                <a:latin typeface="Segoe UI"/>
                <a:ea typeface="Segoe UI"/>
              </a:rPr>
              <a:t>CSDL, xây dựng API + UI, tích hợp thanh toán, kiểm thử, triển khai và vận hành</a:t>
            </a:r>
          </a:p>
          <a:p xmlns:a="http://schemas.openxmlformats.org/drawingml/2006/main">
            <a:r>
              <a:rPr lang="en-US" sz="1350" b="0">
                <a:solidFill>
                  <a:srgbClr val="1E293B"/>
                </a:solidFill>
                <a:latin typeface="Segoe UI"/>
                <a:ea typeface="Segoe UI"/>
              </a:rPr>
              <a:t>đa môi trường (local + Azure + Vercel).</a:t>
            </a:r>
          </a:p>
        </p:txBody>
      </p:sp>
      <p:sp>
        <p:nvSpPr>
          <p:cNvPr id="100273" name="TextBox 7"/>
          <p:cNvSpPr txBox="1"/>
          <p:nvPr/>
        </p:nvSpPr>
        <p:spPr>
          <a:xfrm xmlns:a="http://schemas.openxmlformats.org/drawingml/2006/main">
            <a:off x="540000" y="6444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Vé247 • Đồ án môn học 2 — Tổng hợp &amp; so sánh giá vé</a:t>
            </a:r>
          </a:p>
        </p:txBody>
      </p:sp>
      <p:sp>
        <p:nvSpPr>
          <p:cNvPr id="100274" name="TextBox 8"/>
          <p:cNvSpPr txBox="1"/>
          <p:nvPr/>
        </p:nvSpPr>
        <p:spPr>
          <a:xfrm xmlns:a="http://schemas.openxmlformats.org/drawingml/2006/main">
            <a:off x="11160000" y="6444000"/>
            <a:ext cx="576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900" b="0">
                <a:solidFill>
                  <a:srgbClr val="64748B"/>
                </a:solidFill>
                <a:latin typeface="Segoe UI"/>
                <a:ea typeface="Segoe UI"/>
              </a:rPr>
              <a:t>19</a:t>
            </a:r>
          </a:p>
        </p:txBody>
      </p:sp>
    </p:spTree>
  </p:cSld>
</p:sld>
</file>

<file path=ppt/slides/slide20.xml><?xml version="1.0" encoding="utf-8"?>
<p:sld xmlns:p="http://schemas.openxmlformats.org/presentationml/2006/main">
  <p:cSld>
    <p:bg>
      <p:bgPr>
        <a:solidFill xmlns:a="http://schemas.openxmlformats.org/drawingml/2006/main">
          <a:srgbClr val="0F1E3D"/>
        </a:solidFill>
      </p:bgPr>
    </p:bg>
    <p:spTree>
      <p:nvGrpSpPr>
        <p:cNvPr id="1" name=""/>
        <p:cNvGrpSpPr/>
        <p:nvPr/>
      </p:nvGrpSpPr>
      <p:grpSpPr/>
      <p:sp>
        <p:nvSpPr>
          <p:cNvPr id="100275" name="TextBox 1"/>
          <p:cNvSpPr/>
          <p:nvPr/>
        </p:nvSpPr>
        <p:spPr>
          <a:xfrm xmlns:a="http://schemas.openxmlformats.org/drawingml/2006/main">
            <a:off x="576000" y="792000"/>
            <a:ext cx="2340000" cy="57600"/>
          </a:xfrm>
          <a:prstGeom xmlns:a="http://schemas.openxmlformats.org/drawingml/2006/main" prst="rect">
            <a:avLst/>
          </a:prstGeom>
          <a:solidFill xmlns:a="http://schemas.openxmlformats.org/drawingml/2006/main">
            <a:srgbClr val="06B6D4"/>
          </a:solidFill>
        </p:spPr>
        <p:txBody>
          <a:bodyPr xmlns:a="http://schemas.openxmlformats.org/drawingml/2006/main"/>
          <a:lstStyle xmlns:a="http://schemas.openxmlformats.org/drawingml/2006/main"/>
          <a:p xmlns:a="http://schemas.openxmlformats.org/drawingml/2006/main"/>
        </p:txBody>
      </p:sp>
      <p:sp>
        <p:nvSpPr>
          <p:cNvPr id="100276" name="TextBox 2"/>
          <p:cNvSpPr txBox="1"/>
          <p:nvPr/>
        </p:nvSpPr>
        <p:spPr>
          <a:xfrm xmlns:a="http://schemas.openxmlformats.org/drawingml/2006/main">
            <a:off x="576000" y="1152000"/>
            <a:ext cx="1116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400" b="1">
                <a:solidFill>
                  <a:srgbClr val="FFFFFF"/>
                </a:solidFill>
                <a:latin typeface="Segoe UI"/>
                <a:ea typeface="Segoe UI"/>
              </a:rPr>
              <a:t>Cảm ơn Thầy/Cô!</a:t>
            </a:r>
          </a:p>
        </p:txBody>
      </p:sp>
      <p:sp>
        <p:nvSpPr>
          <p:cNvPr id="100277" name="TextBox 3"/>
          <p:cNvSpPr txBox="1"/>
          <p:nvPr/>
        </p:nvSpPr>
        <p:spPr>
          <a:xfrm xmlns:a="http://schemas.openxmlformats.org/drawingml/2006/main">
            <a:off x="576000" y="216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0">
                <a:solidFill>
                  <a:srgbClr val="06B6D4"/>
                </a:solidFill>
                <a:latin typeface="Segoe UI"/>
                <a:ea typeface="Segoe UI"/>
              </a:rPr>
              <a:t>Q &amp; A</a:t>
            </a:r>
          </a:p>
        </p:txBody>
      </p:sp>
      <p:sp>
        <p:nvSpPr>
          <p:cNvPr id="100278" name="TextBox 4"/>
          <p:cNvSpPr txBox="1"/>
          <p:nvPr/>
        </p:nvSpPr>
        <p:spPr>
          <a:xfrm xmlns:a="http://schemas.openxmlformats.org/drawingml/2006/main">
            <a:off x="576000" y="3780000"/>
            <a:ext cx="1116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FFFFFF"/>
                </a:solidFill>
                <a:latin typeface="Segoe UI"/>
                <a:ea typeface="Segoe UI"/>
              </a:rPr>
              <a:t>Nguyễn Thị Huỳnh Giao — Đồ án môn học 2</a:t>
            </a:r>
          </a:p>
        </p:txBody>
      </p:sp>
      <p:sp>
        <p:nvSpPr>
          <p:cNvPr id="100279" name="TextBox 5"/>
          <p:cNvSpPr txBox="1"/>
          <p:nvPr/>
        </p:nvSpPr>
        <p:spPr>
          <a:xfrm xmlns:a="http://schemas.openxmlformats.org/drawingml/2006/main">
            <a:off x="576000" y="4392000"/>
            <a:ext cx="1116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64748B"/>
                </a:solidFill>
                <a:latin typeface="Segoe UI"/>
                <a:ea typeface="Segoe UI"/>
              </a:rPr>
              <a:t>Vé247 • Tổng hợp &amp; so sánh giá vé theo thời gian thực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2026-08-18T04:46:58Z</dcterms:created>
  <cp:lastModifiedBy>OfficeCLI</cp:lastModifiedBy>
  <dcterms:modified xsi:type="dcterms:W3CDTF">2026-08-18T04:46:58Z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2026-08-18T04:52:54Z</vt:lpwstr>
  </op:property>
</op:Properties>
</file>